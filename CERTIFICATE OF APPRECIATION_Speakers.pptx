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9" r:id="rId5"/>
    <p:sldId id="260" r:id="rId6"/>
    <p:sldId id="261" r:id="rId7"/>
    <p:sldId id="262" r:id="rId8"/>
    <p:sldId id="263" r:id="rId9"/>
    <p:sldId id="264" r:id="rId10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4B4B"/>
    <a:srgbClr val="CC9900"/>
    <a:srgbClr val="443937"/>
    <a:srgbClr val="FC625F"/>
    <a:srgbClr val="C6BA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48"/>
  </p:normalViewPr>
  <p:slideViewPr>
    <p:cSldViewPr snapToGrid="0" snapToObjects="1">
      <p:cViewPr varScale="1">
        <p:scale>
          <a:sx n="56" d="100"/>
          <a:sy n="56" d="100"/>
        </p:scale>
        <p:origin x="13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6A0A70-F39C-E14E-A9AD-78E4291BB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rapezoid 1">
            <a:extLst>
              <a:ext uri="{FF2B5EF4-FFF2-40B4-BE49-F238E27FC236}">
                <a16:creationId xmlns:a16="http://schemas.microsoft.com/office/drawing/2014/main" id="{29EF1FD9-DDB0-4145-AD70-E8D911F73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39383" flipV="1">
            <a:off x="26874" y="2463843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rapezoid 1">
            <a:extLst>
              <a:ext uri="{FF2B5EF4-FFF2-40B4-BE49-F238E27FC236}">
                <a16:creationId xmlns:a16="http://schemas.microsoft.com/office/drawing/2014/main" id="{A6F5D03F-41CE-EF46-88DA-86416703F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147602" y="401054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rapezoid 1">
            <a:extLst>
              <a:ext uri="{FF2B5EF4-FFF2-40B4-BE49-F238E27FC236}">
                <a16:creationId xmlns:a16="http://schemas.microsoft.com/office/drawing/2014/main" id="{CDF4494C-44FC-3B4E-8C25-D08C5047E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39383" flipV="1">
            <a:off x="8953306" y="4887884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rapezoid 1">
            <a:extLst>
              <a:ext uri="{FF2B5EF4-FFF2-40B4-BE49-F238E27FC236}">
                <a16:creationId xmlns:a16="http://schemas.microsoft.com/office/drawing/2014/main" id="{E1C15BFB-DB6D-314F-8C3A-45AF19AE1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832578" y="6950673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96A839-0584-804A-B308-7793CAFB4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0881" y="645886"/>
            <a:ext cx="8676640" cy="6480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60E7A2A-60E9-8F44-96B5-608AFD999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880" y="1675901"/>
            <a:ext cx="8675370" cy="595315"/>
          </a:xfrm>
        </p:spPr>
        <p:txBody>
          <a:bodyPr>
            <a:normAutofit/>
          </a:bodyPr>
          <a:lstStyle>
            <a:lvl1pPr algn="ctr">
              <a:defRPr sz="2400" b="1" i="0" spc="0">
                <a:solidFill>
                  <a:schemeClr val="accent3"/>
                </a:solidFill>
                <a:latin typeface="+mj-lt"/>
                <a:cs typeface="Gill Sans SemiBold" panose="020B0502020104020203" pitchFamily="34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F93C21-2D3D-47A0-80E8-2B6B53478F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71416" y="1115555"/>
            <a:ext cx="1115568" cy="4114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98CB78-AC04-D042-99AD-C2F1E4750D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420" y="2827108"/>
            <a:ext cx="8671560" cy="417743"/>
          </a:xfrm>
        </p:spPr>
        <p:txBody>
          <a:bodyPr anchor="b">
            <a:normAutofit/>
          </a:bodyPr>
          <a:lstStyle>
            <a:lvl1pPr marL="0" indent="0" algn="ctr">
              <a:buNone/>
              <a:defRPr sz="1600" b="0" i="0" cap="all" spc="50" baseline="0">
                <a:solidFill>
                  <a:schemeClr val="accent3"/>
                </a:solidFill>
                <a:latin typeface="+mj-lt"/>
                <a:cs typeface="Gill Sans Light" panose="020B0302020104020203" pitchFamily="34" charset="-79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B59FE82-774C-BB4A-A05E-24C963164A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3244851"/>
            <a:ext cx="8674100" cy="1118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 i="0" spc="0">
                <a:solidFill>
                  <a:schemeClr val="accent3"/>
                </a:solidFill>
                <a:latin typeface="+mn-lt"/>
              </a:defRPr>
            </a:lvl1pPr>
            <a:lvl2pPr marL="502920" indent="0">
              <a:buNone/>
              <a:defRPr/>
            </a:lvl2pPr>
            <a:lvl3pPr marL="1005840" indent="0">
              <a:buNone/>
              <a:defRPr/>
            </a:lvl3pPr>
            <a:lvl4pPr marL="1508760" indent="0">
              <a:buNone/>
              <a:defRPr/>
            </a:lvl4pPr>
            <a:lvl5pPr marL="201168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31E6A6E-1BA7-1F45-A08D-307AACEBEB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150" y="4376956"/>
            <a:ext cx="8672830" cy="52296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cap="all" spc="50" baseline="0">
                <a:solidFill>
                  <a:schemeClr val="accent3"/>
                </a:solidFill>
                <a:latin typeface="+mj-lt"/>
                <a:cs typeface="Gill Sans Light" panose="020B0302020104020203" pitchFamily="34" charset="-79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49D150-13BC-384D-BEE8-E9527DB60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34457" y="5979886"/>
            <a:ext cx="6589486" cy="0"/>
            <a:chOff x="1872342" y="5979886"/>
            <a:chExt cx="6589486" cy="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8158FB6-64E7-264E-BD07-114D31C971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72342" y="5979886"/>
              <a:ext cx="27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503DA16-86E8-5840-BA1E-44CC83BAF5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718628" y="5979886"/>
              <a:ext cx="27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rapezoid 1">
            <a:extLst>
              <a:ext uri="{FF2B5EF4-FFF2-40B4-BE49-F238E27FC236}">
                <a16:creationId xmlns:a16="http://schemas.microsoft.com/office/drawing/2014/main" id="{90E97122-E24B-6F42-B409-9BF350C15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860617">
            <a:off x="-334655" y="1203124"/>
            <a:ext cx="3410625" cy="490780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786554"/>
              <a:gd name="connsiteY0" fmla="*/ 480751 h 484177"/>
              <a:gd name="connsiteX1" fmla="*/ 392592 w 2786554"/>
              <a:gd name="connsiteY1" fmla="*/ 0 h 484177"/>
              <a:gd name="connsiteX2" fmla="*/ 2518314 w 2786554"/>
              <a:gd name="connsiteY2" fmla="*/ 234 h 484177"/>
              <a:gd name="connsiteX3" fmla="*/ 2786554 w 2786554"/>
              <a:gd name="connsiteY3" fmla="*/ 484177 h 484177"/>
              <a:gd name="connsiteX4" fmla="*/ 0 w 2786554"/>
              <a:gd name="connsiteY4" fmla="*/ 480751 h 484177"/>
              <a:gd name="connsiteX0" fmla="*/ 0 w 2786554"/>
              <a:gd name="connsiteY0" fmla="*/ 487354 h 490780"/>
              <a:gd name="connsiteX1" fmla="*/ 392592 w 2786554"/>
              <a:gd name="connsiteY1" fmla="*/ 6603 h 490780"/>
              <a:gd name="connsiteX2" fmla="*/ 2396785 w 2786554"/>
              <a:gd name="connsiteY2" fmla="*/ 0 h 490780"/>
              <a:gd name="connsiteX3" fmla="*/ 2786554 w 2786554"/>
              <a:gd name="connsiteY3" fmla="*/ 490780 h 490780"/>
              <a:gd name="connsiteX4" fmla="*/ 0 w 2786554"/>
              <a:gd name="connsiteY4" fmla="*/ 487354 h 49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6554" h="490780">
                <a:moveTo>
                  <a:pt x="0" y="487354"/>
                </a:moveTo>
                <a:lnTo>
                  <a:pt x="392592" y="6603"/>
                </a:lnTo>
                <a:lnTo>
                  <a:pt x="2396785" y="0"/>
                </a:lnTo>
                <a:lnTo>
                  <a:pt x="2786554" y="490780"/>
                </a:lnTo>
                <a:lnTo>
                  <a:pt x="0" y="48735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rapezoid 1">
            <a:extLst>
              <a:ext uri="{FF2B5EF4-FFF2-40B4-BE49-F238E27FC236}">
                <a16:creationId xmlns:a16="http://schemas.microsoft.com/office/drawing/2014/main" id="{C937B274-8943-0D47-B204-C1FB3BFB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8060617">
            <a:off x="6973284" y="6138574"/>
            <a:ext cx="3410625" cy="490780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786554"/>
              <a:gd name="connsiteY0" fmla="*/ 480751 h 484177"/>
              <a:gd name="connsiteX1" fmla="*/ 392592 w 2786554"/>
              <a:gd name="connsiteY1" fmla="*/ 0 h 484177"/>
              <a:gd name="connsiteX2" fmla="*/ 2518314 w 2786554"/>
              <a:gd name="connsiteY2" fmla="*/ 234 h 484177"/>
              <a:gd name="connsiteX3" fmla="*/ 2786554 w 2786554"/>
              <a:gd name="connsiteY3" fmla="*/ 484177 h 484177"/>
              <a:gd name="connsiteX4" fmla="*/ 0 w 2786554"/>
              <a:gd name="connsiteY4" fmla="*/ 480751 h 484177"/>
              <a:gd name="connsiteX0" fmla="*/ 0 w 2786554"/>
              <a:gd name="connsiteY0" fmla="*/ 487354 h 490780"/>
              <a:gd name="connsiteX1" fmla="*/ 392592 w 2786554"/>
              <a:gd name="connsiteY1" fmla="*/ 6603 h 490780"/>
              <a:gd name="connsiteX2" fmla="*/ 2396785 w 2786554"/>
              <a:gd name="connsiteY2" fmla="*/ 0 h 490780"/>
              <a:gd name="connsiteX3" fmla="*/ 2786554 w 2786554"/>
              <a:gd name="connsiteY3" fmla="*/ 490780 h 490780"/>
              <a:gd name="connsiteX4" fmla="*/ 0 w 2786554"/>
              <a:gd name="connsiteY4" fmla="*/ 487354 h 49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6554" h="490780">
                <a:moveTo>
                  <a:pt x="0" y="487354"/>
                </a:moveTo>
                <a:lnTo>
                  <a:pt x="392592" y="6603"/>
                </a:lnTo>
                <a:lnTo>
                  <a:pt x="2396785" y="0"/>
                </a:lnTo>
                <a:lnTo>
                  <a:pt x="2786554" y="490780"/>
                </a:lnTo>
                <a:lnTo>
                  <a:pt x="0" y="48735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5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55A94-CD46-C44F-8A53-8AA853BE1DF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CBA5E-A969-C44D-8E38-C70ED41C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6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openxmlformats.org/officeDocument/2006/relationships/image" Target="../media/image9.svg"/><Relationship Id="rId25" Type="http://schemas.microsoft.com/office/2007/relationships/hdphoto" Target="../media/hdphoto11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29" Type="http://schemas.microsoft.com/office/2007/relationships/hdphoto" Target="../media/hdphoto1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microsoft.com/office/2007/relationships/hdphoto" Target="../media/hdphoto2.wdp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openxmlformats.org/officeDocument/2006/relationships/image" Target="../media/image15.png"/><Relationship Id="rId10" Type="http://schemas.openxmlformats.org/officeDocument/2006/relationships/image" Target="../media/image5.png"/><Relationship Id="rId19" Type="http://schemas.microsoft.com/office/2007/relationships/hdphoto" Target="../media/hdphoto8.wdp"/><Relationship Id="rId31" Type="http://schemas.microsoft.com/office/2007/relationships/hdphoto" Target="../media/hdphoto14.wdp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Relationship Id="rId22" Type="http://schemas.openxmlformats.org/officeDocument/2006/relationships/image" Target="../media/image12.png"/><Relationship Id="rId27" Type="http://schemas.microsoft.com/office/2007/relationships/hdphoto" Target="../media/hdphoto12.wdp"/><Relationship Id="rId30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openxmlformats.org/officeDocument/2006/relationships/image" Target="../media/image9.svg"/><Relationship Id="rId25" Type="http://schemas.microsoft.com/office/2007/relationships/hdphoto" Target="../media/hdphoto11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29" Type="http://schemas.microsoft.com/office/2007/relationships/hdphoto" Target="../media/hdphoto1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microsoft.com/office/2007/relationships/hdphoto" Target="../media/hdphoto2.wdp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openxmlformats.org/officeDocument/2006/relationships/image" Target="../media/image15.png"/><Relationship Id="rId10" Type="http://schemas.openxmlformats.org/officeDocument/2006/relationships/image" Target="../media/image5.png"/><Relationship Id="rId19" Type="http://schemas.microsoft.com/office/2007/relationships/hdphoto" Target="../media/hdphoto8.wdp"/><Relationship Id="rId31" Type="http://schemas.microsoft.com/office/2007/relationships/hdphoto" Target="../media/hdphoto14.wdp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Relationship Id="rId22" Type="http://schemas.openxmlformats.org/officeDocument/2006/relationships/image" Target="../media/image12.png"/><Relationship Id="rId27" Type="http://schemas.microsoft.com/office/2007/relationships/hdphoto" Target="../media/hdphoto12.wdp"/><Relationship Id="rId30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openxmlformats.org/officeDocument/2006/relationships/image" Target="../media/image9.svg"/><Relationship Id="rId25" Type="http://schemas.microsoft.com/office/2007/relationships/hdphoto" Target="../media/hdphoto11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29" Type="http://schemas.microsoft.com/office/2007/relationships/hdphoto" Target="../media/hdphoto1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microsoft.com/office/2007/relationships/hdphoto" Target="../media/hdphoto2.wdp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openxmlformats.org/officeDocument/2006/relationships/image" Target="../media/image15.png"/><Relationship Id="rId10" Type="http://schemas.openxmlformats.org/officeDocument/2006/relationships/image" Target="../media/image5.png"/><Relationship Id="rId19" Type="http://schemas.microsoft.com/office/2007/relationships/hdphoto" Target="../media/hdphoto8.wdp"/><Relationship Id="rId31" Type="http://schemas.microsoft.com/office/2007/relationships/hdphoto" Target="../media/hdphoto14.wdp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Relationship Id="rId22" Type="http://schemas.openxmlformats.org/officeDocument/2006/relationships/image" Target="../media/image12.png"/><Relationship Id="rId27" Type="http://schemas.microsoft.com/office/2007/relationships/hdphoto" Target="../media/hdphoto12.wdp"/><Relationship Id="rId30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openxmlformats.org/officeDocument/2006/relationships/image" Target="../media/image9.svg"/><Relationship Id="rId25" Type="http://schemas.microsoft.com/office/2007/relationships/hdphoto" Target="../media/hdphoto11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29" Type="http://schemas.microsoft.com/office/2007/relationships/hdphoto" Target="../media/hdphoto1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microsoft.com/office/2007/relationships/hdphoto" Target="../media/hdphoto2.wdp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openxmlformats.org/officeDocument/2006/relationships/image" Target="../media/image15.png"/><Relationship Id="rId10" Type="http://schemas.openxmlformats.org/officeDocument/2006/relationships/image" Target="../media/image5.png"/><Relationship Id="rId19" Type="http://schemas.microsoft.com/office/2007/relationships/hdphoto" Target="../media/hdphoto8.wdp"/><Relationship Id="rId31" Type="http://schemas.microsoft.com/office/2007/relationships/hdphoto" Target="../media/hdphoto14.wdp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Relationship Id="rId22" Type="http://schemas.openxmlformats.org/officeDocument/2006/relationships/image" Target="../media/image12.png"/><Relationship Id="rId27" Type="http://schemas.microsoft.com/office/2007/relationships/hdphoto" Target="../media/hdphoto12.wdp"/><Relationship Id="rId30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openxmlformats.org/officeDocument/2006/relationships/image" Target="../media/image9.svg"/><Relationship Id="rId25" Type="http://schemas.microsoft.com/office/2007/relationships/hdphoto" Target="../media/hdphoto11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29" Type="http://schemas.microsoft.com/office/2007/relationships/hdphoto" Target="../media/hdphoto1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microsoft.com/office/2007/relationships/hdphoto" Target="../media/hdphoto2.wdp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openxmlformats.org/officeDocument/2006/relationships/image" Target="../media/image15.png"/><Relationship Id="rId10" Type="http://schemas.openxmlformats.org/officeDocument/2006/relationships/image" Target="../media/image5.png"/><Relationship Id="rId19" Type="http://schemas.microsoft.com/office/2007/relationships/hdphoto" Target="../media/hdphoto8.wdp"/><Relationship Id="rId31" Type="http://schemas.microsoft.com/office/2007/relationships/hdphoto" Target="../media/hdphoto14.wdp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Relationship Id="rId22" Type="http://schemas.openxmlformats.org/officeDocument/2006/relationships/image" Target="../media/image12.png"/><Relationship Id="rId27" Type="http://schemas.microsoft.com/office/2007/relationships/hdphoto" Target="../media/hdphoto12.wdp"/><Relationship Id="rId30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openxmlformats.org/officeDocument/2006/relationships/image" Target="../media/image9.svg"/><Relationship Id="rId25" Type="http://schemas.microsoft.com/office/2007/relationships/hdphoto" Target="../media/hdphoto11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29" Type="http://schemas.microsoft.com/office/2007/relationships/hdphoto" Target="../media/hdphoto1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microsoft.com/office/2007/relationships/hdphoto" Target="../media/hdphoto2.wdp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openxmlformats.org/officeDocument/2006/relationships/image" Target="../media/image15.png"/><Relationship Id="rId10" Type="http://schemas.openxmlformats.org/officeDocument/2006/relationships/image" Target="../media/image5.png"/><Relationship Id="rId19" Type="http://schemas.microsoft.com/office/2007/relationships/hdphoto" Target="../media/hdphoto8.wdp"/><Relationship Id="rId31" Type="http://schemas.microsoft.com/office/2007/relationships/hdphoto" Target="../media/hdphoto14.wdp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Relationship Id="rId22" Type="http://schemas.openxmlformats.org/officeDocument/2006/relationships/image" Target="../media/image12.png"/><Relationship Id="rId27" Type="http://schemas.microsoft.com/office/2007/relationships/hdphoto" Target="../media/hdphoto12.wdp"/><Relationship Id="rId30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C64CC-BAE8-25AE-13F9-0988AC5E5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C3F29DA9-F0F8-FA11-D690-16A8A035306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9020" y="2154054"/>
            <a:ext cx="6614471" cy="3289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ertificate of Scholarship">
            <a:extLst>
              <a:ext uri="{FF2B5EF4-FFF2-40B4-BE49-F238E27FC236}">
                <a16:creationId xmlns:a16="http://schemas.microsoft.com/office/drawing/2014/main" id="{1D9E27EE-B213-F3DF-D41F-A99830F5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1675901"/>
            <a:ext cx="8675370" cy="595315"/>
          </a:xfrm>
        </p:spPr>
        <p:txBody>
          <a:bodyPr/>
          <a:lstStyle/>
          <a:p>
            <a:r>
              <a:rPr lang="en-US" dirty="0"/>
              <a:t>CERTIFICATE OF APPRECIATION</a:t>
            </a:r>
          </a:p>
        </p:txBody>
      </p:sp>
      <p:sp>
        <p:nvSpPr>
          <p:cNvPr id="5" name="This acknowledges that">
            <a:extLst>
              <a:ext uri="{FF2B5EF4-FFF2-40B4-BE49-F238E27FC236}">
                <a16:creationId xmlns:a16="http://schemas.microsoft.com/office/drawing/2014/main" id="{CC8592B3-483F-E038-548C-6426534DD6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475" y="2618554"/>
            <a:ext cx="8671560" cy="417743"/>
          </a:xfrm>
        </p:spPr>
        <p:txBody>
          <a:bodyPr/>
          <a:lstStyle/>
          <a:p>
            <a:r>
              <a:rPr lang="en-US" dirty="0"/>
              <a:t>THIS ACKNOWLEDGES THAT</a:t>
            </a:r>
          </a:p>
        </p:txBody>
      </p:sp>
      <p:sp>
        <p:nvSpPr>
          <p:cNvPr id="6" name="Christian Lacombe">
            <a:extLst>
              <a:ext uri="{FF2B5EF4-FFF2-40B4-BE49-F238E27FC236}">
                <a16:creationId xmlns:a16="http://schemas.microsoft.com/office/drawing/2014/main" id="{6E70BB91-745D-C29F-F02A-47F5AC4D4E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2991260"/>
            <a:ext cx="8674100" cy="1118504"/>
          </a:xfrm>
        </p:spPr>
        <p:txBody>
          <a:bodyPr>
            <a:normAutofit/>
          </a:bodyPr>
          <a:lstStyle/>
          <a:p>
            <a:r>
              <a:rPr lang="en-US" dirty="0"/>
              <a:t>Swapnil </a:t>
            </a:r>
            <a:r>
              <a:rPr lang="en-US" dirty="0" err="1"/>
              <a:t>Bandwal</a:t>
            </a:r>
            <a:endParaRPr lang="en-US" dirty="0"/>
          </a:p>
        </p:txBody>
      </p:sp>
      <p:sp>
        <p:nvSpPr>
          <p:cNvPr id="7" name="has been recognized for outstanding achievement">
            <a:extLst>
              <a:ext uri="{FF2B5EF4-FFF2-40B4-BE49-F238E27FC236}">
                <a16:creationId xmlns:a16="http://schemas.microsoft.com/office/drawing/2014/main" id="{F0434C4A-6359-EF3B-5440-EEE638C274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6077" y="4186867"/>
            <a:ext cx="8672830" cy="522968"/>
          </a:xfrm>
        </p:spPr>
        <p:txBody>
          <a:bodyPr>
            <a:noAutofit/>
          </a:bodyPr>
          <a:lstStyle/>
          <a:p>
            <a:r>
              <a:rPr lang="en-US" sz="1800" dirty="0"/>
              <a:t>for delivering an inspiring and insightful session at </a:t>
            </a:r>
            <a:r>
              <a:rPr lang="en-US" sz="1800" b="1" dirty="0"/>
              <a:t>Power Platform Classmates 2025 – Dubai</a:t>
            </a:r>
            <a:r>
              <a:rPr lang="en-US" sz="1800" dirty="0"/>
              <a:t>.</a:t>
            </a:r>
          </a:p>
        </p:txBody>
      </p:sp>
      <p:sp>
        <p:nvSpPr>
          <p:cNvPr id="8" name="Reed Flores, Teacher">
            <a:extLst>
              <a:ext uri="{FF2B5EF4-FFF2-40B4-BE49-F238E27FC236}">
                <a16:creationId xmlns:a16="http://schemas.microsoft.com/office/drawing/2014/main" id="{BAA23C78-EA1A-0266-35DA-66CEE921623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4909" y="5414139"/>
            <a:ext cx="3607384" cy="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Organizers, </a:t>
            </a:r>
          </a:p>
          <a:p>
            <a:pPr marL="0" indent="0">
              <a:buNone/>
            </a:pPr>
            <a:r>
              <a:rPr lang="en-US" sz="1200" b="1" dirty="0"/>
              <a:t>Power Platform Classmates,</a:t>
            </a:r>
          </a:p>
          <a:p>
            <a:pPr marL="0" indent="0">
              <a:buNone/>
            </a:pPr>
            <a:r>
              <a:rPr lang="en-US" sz="1200" b="1" dirty="0"/>
              <a:t>BITS Pilani, Dubai</a:t>
            </a:r>
          </a:p>
        </p:txBody>
      </p:sp>
      <p:sp>
        <p:nvSpPr>
          <p:cNvPr id="2" name="AutoShape 2" descr="Badge Yellow Circle for Award Badge">
            <a:extLst>
              <a:ext uri="{FF2B5EF4-FFF2-40B4-BE49-F238E27FC236}">
                <a16:creationId xmlns:a16="http://schemas.microsoft.com/office/drawing/2014/main" id="{22A2DE50-2B43-F436-7FD5-242E7F7CE4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242E1C-3578-2E93-55F9-D9D971538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19" l="9903" r="91600">
                        <a14:foregroundMark x1="45712" y1="78318" x2="46508" y2="76449"/>
                        <a14:foregroundMark x1="66490" y1="77664" x2="55349" y2="74206"/>
                        <a14:foregroundMark x1="55349" y1="74206" x2="66225" y2="70467"/>
                        <a14:foregroundMark x1="66225" y1="70467" x2="63660" y2="79252"/>
                        <a14:foregroundMark x1="74978" y1="65327" x2="72679" y2="65327"/>
                        <a14:foregroundMark x1="74801" y1="57664" x2="74801" y2="57664"/>
                        <a14:foregroundMark x1="74978" y1="57477" x2="74978" y2="57477"/>
                        <a14:foregroundMark x1="74978" y1="57477" x2="74978" y2="57477"/>
                        <a14:foregroundMark x1="70380" y1="63458" x2="70380" y2="63458"/>
                        <a14:foregroundMark x1="70380" y1="63458" x2="70380" y2="63458"/>
                        <a14:foregroundMark x1="69761" y1="61028" x2="69761" y2="61028"/>
                        <a14:foregroundMark x1="69761" y1="61028" x2="69408" y2="60093"/>
                        <a14:foregroundMark x1="69408" y1="59720" x2="69408" y2="59720"/>
                        <a14:foregroundMark x1="69408" y1="59720" x2="69408" y2="59720"/>
                        <a14:foregroundMark x1="73386" y1="63458" x2="73386" y2="63458"/>
                        <a14:foregroundMark x1="79576" y1="62804" x2="79576" y2="62804"/>
                        <a14:foregroundMark x1="76835" y1="62243" x2="76304" y2="62150"/>
                        <a14:foregroundMark x1="73475" y1="60935" x2="72944" y2="60374"/>
                        <a14:foregroundMark x1="72944" y1="60374" x2="72944" y2="60374"/>
                        <a14:foregroundMark x1="75685" y1="58318" x2="75685" y2="58318"/>
                        <a14:foregroundMark x1="75685" y1="58318" x2="75685" y2="58318"/>
                        <a14:foregroundMark x1="70203" y1="57477" x2="70203" y2="57477"/>
                        <a14:foregroundMark x1="70203" y1="57477" x2="70203" y2="57477"/>
                        <a14:foregroundMark x1="66225" y1="63458" x2="66225" y2="63458"/>
                        <a14:foregroundMark x1="70027" y1="61869" x2="69673" y2="61682"/>
                        <a14:foregroundMark x1="66667" y1="62617" x2="66667" y2="62617"/>
                        <a14:foregroundMark x1="66667" y1="62617" x2="66667" y2="62617"/>
                        <a14:foregroundMark x1="68966" y1="63458" x2="68966" y2="63458"/>
                        <a14:foregroundMark x1="68966" y1="63458" x2="68966" y2="63458"/>
                        <a14:foregroundMark x1="70203" y1="67944" x2="70292" y2="67477"/>
                        <a14:foregroundMark x1="66225" y1="90467" x2="66225" y2="90467"/>
                        <a14:foregroundMark x1="66225" y1="90374" x2="66225" y2="90374"/>
                        <a14:foregroundMark x1="63926" y1="87009" x2="63926" y2="87009"/>
                        <a14:foregroundMark x1="63926" y1="87009" x2="63926" y2="87009"/>
                        <a14:foregroundMark x1="67109" y1="94019" x2="66313" y2="93832"/>
                        <a14:foregroundMark x1="65164" y1="93271" x2="65164" y2="93271"/>
                        <a14:foregroundMark x1="65517" y1="92523" x2="65959" y2="92523"/>
                        <a14:foregroundMark x1="68877" y1="91308" x2="68877" y2="91308"/>
                        <a14:foregroundMark x1="69231" y1="91308" x2="69231" y2="91308"/>
                        <a14:foregroundMark x1="65694" y1="88411" x2="65694" y2="88411"/>
                        <a14:foregroundMark x1="65340" y1="86729" x2="65340" y2="86729"/>
                        <a14:foregroundMark x1="65340" y1="86729" x2="65340" y2="86729"/>
                        <a14:foregroundMark x1="65340" y1="86729" x2="65340" y2="86729"/>
                        <a14:foregroundMark x1="63749" y1="85607" x2="63749" y2="85607"/>
                        <a14:foregroundMark x1="63749" y1="85607" x2="63749" y2="85607"/>
                        <a14:foregroundMark x1="64368" y1="88411" x2="64368" y2="88411"/>
                        <a14:foregroundMark x1="69408" y1="87664" x2="69408" y2="87664"/>
                        <a14:foregroundMark x1="69408" y1="87664" x2="69408" y2="87664"/>
                        <a14:foregroundMark x1="67109" y1="87196" x2="67109" y2="87196"/>
                        <a14:foregroundMark x1="64810" y1="88411" x2="64810" y2="88411"/>
                        <a14:foregroundMark x1="64810" y1="88411" x2="64810" y2="88411"/>
                        <a14:foregroundMark x1="65429" y1="88598" x2="65429" y2="88598"/>
                        <a14:foregroundMark x1="65517" y1="88598" x2="65517" y2="87477"/>
                        <a14:foregroundMark x1="65340" y1="85981" x2="65340" y2="85981"/>
                        <a14:foregroundMark x1="65340" y1="85981" x2="65340" y2="85981"/>
                        <a14:foregroundMark x1="63926" y1="88972" x2="63926" y2="88972"/>
                        <a14:foregroundMark x1="63660" y1="88224" x2="63660" y2="88224"/>
                        <a14:foregroundMark x1="38108" y1="77103" x2="38108" y2="77103"/>
                        <a14:foregroundMark x1="38108" y1="77103" x2="38108" y2="77103"/>
                        <a14:foregroundMark x1="47126" y1="81028" x2="36782" y2="74766"/>
                        <a14:foregroundMark x1="36782" y1="74766" x2="46684" y2="79813"/>
                        <a14:foregroundMark x1="46684" y1="79813" x2="46508" y2="81308"/>
                        <a14:foregroundMark x1="75508" y1="48037" x2="68789" y2="38411"/>
                        <a14:foregroundMark x1="68789" y1="38411" x2="75685" y2="47570"/>
                        <a14:foregroundMark x1="75685" y1="47570" x2="75950" y2="48972"/>
                        <a14:foregroundMark x1="61362" y1="34393" x2="61362" y2="34393"/>
                        <a14:foregroundMark x1="62069" y1="34579" x2="61450" y2="34860"/>
                        <a14:foregroundMark x1="43855" y1="34953" x2="43236" y2="35234"/>
                        <a14:foregroundMark x1="62865" y1="37103" x2="58090" y2="26355"/>
                        <a14:foregroundMark x1="58090" y1="26355" x2="64456" y2="35607"/>
                        <a14:foregroundMark x1="64456" y1="35607" x2="63042" y2="37009"/>
                        <a14:foregroundMark x1="52608" y1="30467" x2="52608" y2="30467"/>
                        <a14:foregroundMark x1="52608" y1="30467" x2="52608" y2="30467"/>
                        <a14:foregroundMark x1="43059" y1="36542" x2="40760" y2="37757"/>
                        <a14:foregroundMark x1="37224" y1="32804" x2="37224" y2="32804"/>
                        <a14:foregroundMark x1="37224" y1="32804" x2="37224" y2="32804"/>
                        <a14:foregroundMark x1="37224" y1="32804" x2="37224" y2="32804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39611" y1="37383" x2="47038" y2="26168"/>
                        <a14:foregroundMark x1="47038" y1="26168" x2="43324" y2="36168"/>
                        <a14:foregroundMark x1="41645" y1="26168" x2="41645" y2="26168"/>
                        <a14:foregroundMark x1="41645" y1="26168" x2="41645" y2="26168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37577" y1="25234" x2="37577" y2="25234"/>
                        <a14:foregroundMark x1="37577" y1="25234" x2="37577" y2="25234"/>
                        <a14:foregroundMark x1="37577" y1="25234" x2="37577" y2="25234"/>
                        <a14:foregroundMark x1="34925" y1="47944" x2="31477" y2="48879"/>
                        <a14:foregroundMark x1="32361" y1="68598" x2="31742" y2="55514"/>
                        <a14:foregroundMark x1="31742" y1="55514" x2="32449" y2="67477"/>
                        <a14:foregroundMark x1="32449" y1="67477" x2="31565" y2="68505"/>
                        <a14:foregroundMark x1="26172" y1="57757" x2="26172" y2="57757"/>
                        <a14:foregroundMark x1="26172" y1="57757" x2="26172" y2="57757"/>
                        <a14:foregroundMark x1="26172" y1="57757" x2="26172" y2="57757"/>
                        <a14:foregroundMark x1="48187" y1="25607" x2="48187" y2="25607"/>
                        <a14:foregroundMark x1="48187" y1="25607" x2="48187" y2="25607"/>
                        <a14:foregroundMark x1="48187" y1="25607" x2="48187" y2="25607"/>
                        <a14:foregroundMark x1="35013" y1="30187" x2="35013" y2="30187"/>
                        <a14:foregroundMark x1="35013" y1="30187" x2="35013" y2="30187"/>
                        <a14:foregroundMark x1="35102" y1="30374" x2="35102" y2="30374"/>
                        <a14:foregroundMark x1="35102" y1="30374" x2="35544" y2="30374"/>
                        <a14:foregroundMark x1="37843" y1="22804" x2="37843" y2="22804"/>
                        <a14:foregroundMark x1="37843" y1="22804" x2="37843" y2="22804"/>
                        <a14:foregroundMark x1="37666" y1="17757" x2="37666" y2="17757"/>
                        <a14:foregroundMark x1="37666" y1="17757" x2="37666" y2="17757"/>
                        <a14:foregroundMark x1="37666" y1="17757" x2="37666" y2="17757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68081" y1="12804" x2="68081" y2="12804"/>
                        <a14:foregroundMark x1="68081" y1="12804" x2="68081" y2="12804"/>
                        <a14:foregroundMark x1="65959" y1="12897" x2="65959" y2="12897"/>
                        <a14:foregroundMark x1="65959" y1="12897" x2="65959" y2="12897"/>
                        <a14:foregroundMark x1="65959" y1="12897" x2="65959" y2="12897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832" y1="65888" x2="89832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302" y2="68037"/>
                        <a14:foregroundMark x1="91600" y1="67757" x2="91600" y2="67757"/>
                        <a14:foregroundMark x1="91600" y1="67757" x2="91600" y2="67757"/>
                        <a14:foregroundMark x1="91600" y1="67757" x2="91600" y2="67757"/>
                        <a14:foregroundMark x1="80725" y1="62523" x2="80725" y2="62523"/>
                        <a14:foregroundMark x1="80725" y1="62523" x2="80725" y2="62523"/>
                        <a14:foregroundMark x1="80725" y1="62523" x2="80725" y2="62523"/>
                        <a14:foregroundMark x1="32361" y1="47477" x2="29885" y2="48037"/>
                        <a14:foregroundMark x1="10610" y1="36542" x2="10610" y2="36542"/>
                        <a14:foregroundMark x1="10610" y1="36542" x2="10610" y2="36542"/>
                        <a14:foregroundMark x1="10610" y1="36542" x2="10610" y2="36542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48453" y1="30748" x2="48453" y2="30748"/>
                        <a14:foregroundMark x1="48453" y1="30748" x2="48453" y2="30748"/>
                        <a14:foregroundMark x1="48453" y1="30748" x2="48453" y2="30748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8391" y1="38879" x2="18391" y2="38879"/>
                        <a14:foregroundMark x1="18391" y1="38879" x2="18391" y2="39252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64279" y1="26542" x2="64279" y2="26542"/>
                        <a14:foregroundMark x1="64279" y1="26542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5774" y1="70187" x2="75774" y2="70187"/>
                        <a14:foregroundMark x1="75774" y1="70187" x2="75774" y2="70187"/>
                        <a14:foregroundMark x1="75774" y1="70187" x2="75774" y2="70187"/>
                        <a14:foregroundMark x1="75774" y1="69159" x2="75774" y2="69159"/>
                        <a14:foregroundMark x1="75774" y1="69159" x2="75774" y2="69159"/>
                        <a14:foregroundMark x1="75774" y1="69159" x2="75774" y2="69159"/>
                        <a14:foregroundMark x1="78691" y1="65234" x2="78691" y2="65234"/>
                        <a14:foregroundMark x1="78691" y1="65234" x2="78691" y2="65234"/>
                        <a14:foregroundMark x1="44828" y1="23084" x2="44828" y2="23084"/>
                        <a14:foregroundMark x1="44828" y1="23084" x2="44828" y2="23084"/>
                        <a14:foregroundMark x1="44828" y1="23084" x2="44828" y2="23084"/>
                        <a14:foregroundMark x1="38373" y1="23645" x2="38373" y2="23645"/>
                        <a14:foregroundMark x1="38373" y1="23645" x2="38373" y2="23645"/>
                        <a14:foregroundMark x1="39788" y1="25327" x2="39788" y2="25327"/>
                        <a14:foregroundMark x1="39965" y1="23178" x2="39965" y2="23178"/>
                        <a14:foregroundMark x1="39965" y1="23178" x2="39965" y2="23178"/>
                        <a14:foregroundMark x1="36074" y1="18505" x2="36074" y2="18505"/>
                        <a14:foregroundMark x1="36074" y1="18505" x2="36074" y2="18505"/>
                        <a14:foregroundMark x1="36074" y1="18505" x2="36074" y2="18505"/>
                        <a14:foregroundMark x1="33864" y1="14299" x2="33864" y2="14299"/>
                        <a14:foregroundMark x1="33864" y1="14299" x2="33864" y2="14299"/>
                        <a14:foregroundMark x1="39611" y1="19720" x2="37577" y2="19252"/>
                        <a14:foregroundMark x1="64545" y1="19813" x2="63484" y2="20654"/>
                        <a14:foregroundMark x1="85853" y1="36449" x2="84881" y2="36729"/>
                        <a14:foregroundMark x1="85853" y1="41402" x2="86384" y2="40935"/>
                        <a14:foregroundMark x1="85500" y1="68598" x2="86030" y2="69439"/>
                        <a14:foregroundMark x1="85234" y1="70374" x2="84615" y2="69159"/>
                        <a14:foregroundMark x1="37312" y1="90374" x2="37224" y2="90093"/>
                        <a14:foregroundMark x1="37931" y1="88972" x2="38373" y2="88879"/>
                        <a14:foregroundMark x1="36074" y1="91028" x2="35897" y2="90374"/>
                        <a14:foregroundMark x1="33864" y1="88411" x2="36163" y2="89159"/>
                        <a14:foregroundMark x1="16092" y1="70467" x2="15208" y2="67664"/>
                        <a14:foregroundMark x1="15119" y1="70748" x2="15119" y2="70748"/>
                        <a14:foregroundMark x1="15119" y1="70748" x2="15119" y2="70748"/>
                        <a14:foregroundMark x1="17241" y1="70093" x2="17772" y2="68879"/>
                        <a14:foregroundMark x1="23607" y1="65607" x2="23607" y2="65607"/>
                        <a14:foregroundMark x1="23607" y1="65607" x2="23607" y2="65607"/>
                        <a14:foregroundMark x1="22370" y1="64673" x2="22370" y2="64673"/>
                        <a14:foregroundMark x1="18921" y1="40187" x2="15296" y2="38785"/>
                        <a14:backgroundMark x1="23165" y1="27570" x2="9991" y2="20280"/>
                        <a14:backgroundMark x1="9991" y1="20280" x2="5128" y2="7757"/>
                        <a14:backgroundMark x1="5128" y1="7757" x2="24050" y2="14860"/>
                        <a14:backgroundMark x1="24050" y1="14860" x2="22989" y2="27290"/>
                        <a14:backgroundMark x1="22989" y1="27290" x2="22193" y2="26822"/>
                        <a14:backgroundMark x1="27233" y1="28037" x2="10698" y2="21869"/>
                        <a14:backgroundMark x1="10698" y1="21869" x2="5217" y2="9346"/>
                        <a14:backgroundMark x1="5217" y1="9346" x2="17683" y2="9533"/>
                        <a14:backgroundMark x1="17683" y1="9533" x2="24492" y2="24766"/>
                        <a14:backgroundMark x1="24492" y1="24766" x2="26967" y2="275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3153" y="612169"/>
            <a:ext cx="1136107" cy="1074833"/>
          </a:xfrm>
          <a:prstGeom prst="rect">
            <a:avLst/>
          </a:prstGeom>
        </p:spPr>
      </p:pic>
      <p:sp>
        <p:nvSpPr>
          <p:cNvPr id="22" name="Reed Flores, Teacher">
            <a:extLst>
              <a:ext uri="{FF2B5EF4-FFF2-40B4-BE49-F238E27FC236}">
                <a16:creationId xmlns:a16="http://schemas.microsoft.com/office/drawing/2014/main" id="{05BAE4FB-D1A1-1029-B4BC-D9A6282CC4D0}"/>
              </a:ext>
            </a:extLst>
          </p:cNvPr>
          <p:cNvSpPr txBox="1">
            <a:spLocks/>
          </p:cNvSpPr>
          <p:nvPr/>
        </p:nvSpPr>
        <p:spPr>
          <a:xfrm>
            <a:off x="6106326" y="5680739"/>
            <a:ext cx="1798017" cy="25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/>
              <a:t>04 Oct,  2025</a:t>
            </a:r>
          </a:p>
        </p:txBody>
      </p:sp>
      <p:pic>
        <p:nvPicPr>
          <p:cNvPr id="28" name="Picture 6" descr="Image result for Power apps logo">
            <a:extLst>
              <a:ext uri="{FF2B5EF4-FFF2-40B4-BE49-F238E27FC236}">
                <a16:creationId xmlns:a16="http://schemas.microsoft.com/office/drawing/2014/main" id="{CAE6B320-F3E3-39CB-3BAF-BCE990145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388" y="6599707"/>
            <a:ext cx="742563" cy="5398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Image result for Power BI logo">
            <a:extLst>
              <a:ext uri="{FF2B5EF4-FFF2-40B4-BE49-F238E27FC236}">
                <a16:creationId xmlns:a16="http://schemas.microsoft.com/office/drawing/2014/main" id="{E4EB9C7F-914F-3E77-6F2D-DF19ACD8F0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5171" r="846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4" r="6644"/>
          <a:stretch/>
        </p:blipFill>
        <p:spPr bwMode="auto">
          <a:xfrm>
            <a:off x="3173919" y="6578581"/>
            <a:ext cx="477718" cy="5068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Image result for power virtual agents logo">
            <a:extLst>
              <a:ext uri="{FF2B5EF4-FFF2-40B4-BE49-F238E27FC236}">
                <a16:creationId xmlns:a16="http://schemas.microsoft.com/office/drawing/2014/main" id="{CE873786-F176-FBCD-F5E3-78AF8BCB5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39" y="6533737"/>
            <a:ext cx="626538" cy="707972"/>
          </a:xfrm>
          <a:prstGeom prst="ellipse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Power BI Desktop Connecting to Dataverse - Hat Full of Data">
            <a:extLst>
              <a:ext uri="{FF2B5EF4-FFF2-40B4-BE49-F238E27FC236}">
                <a16:creationId xmlns:a16="http://schemas.microsoft.com/office/drawing/2014/main" id="{FBC54EC7-26DE-22D1-8135-F17D05058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778" b="89778" l="2667" r="95556">
                        <a14:foregroundMark x1="90222" y1="48444" x2="90222" y2="48444"/>
                        <a14:foregroundMark x1="95556" y1="48444" x2="95556" y2="48444"/>
                        <a14:foregroundMark x1="6222" y1="59556" x2="6222" y2="59556"/>
                        <a14:foregroundMark x1="2667" y1="54667" x2="2667" y2="5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77" y="6583652"/>
            <a:ext cx="568427" cy="51267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B6E14A9-2BA8-0638-71CA-2090F95D637F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9069" r="21546" b="8853"/>
          <a:stretch/>
        </p:blipFill>
        <p:spPr>
          <a:xfrm>
            <a:off x="2763760" y="6702921"/>
            <a:ext cx="412375" cy="34906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6DDD99D-3732-CDCB-EF79-B8B63572A44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825" y="6644992"/>
            <a:ext cx="459445" cy="459445"/>
          </a:xfrm>
          <a:prstGeom prst="rect">
            <a:avLst/>
          </a:prstGeom>
        </p:spPr>
      </p:pic>
      <p:pic>
        <p:nvPicPr>
          <p:cNvPr id="35" name="Picture 16" descr="Icon for Dynamics 365 Customer Service">
            <a:extLst>
              <a:ext uri="{FF2B5EF4-FFF2-40B4-BE49-F238E27FC236}">
                <a16:creationId xmlns:a16="http://schemas.microsoft.com/office/drawing/2014/main" id="{A4897601-392E-7D5C-C500-2836D01C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158" y="6589020"/>
            <a:ext cx="699650" cy="54449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8" descr="Icon for Dynamics 365 Field Service">
            <a:extLst>
              <a:ext uri="{FF2B5EF4-FFF2-40B4-BE49-F238E27FC236}">
                <a16:creationId xmlns:a16="http://schemas.microsoft.com/office/drawing/2014/main" id="{39090914-49DA-447D-1CCA-30B5EE503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999" y="6515329"/>
            <a:ext cx="658788" cy="6703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Icon for Dynamics 365 Sales">
            <a:extLst>
              <a:ext uri="{FF2B5EF4-FFF2-40B4-BE49-F238E27FC236}">
                <a16:creationId xmlns:a16="http://schemas.microsoft.com/office/drawing/2014/main" id="{93BE7B46-1351-50D6-DBE6-2DE0A9702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01" y="6509382"/>
            <a:ext cx="673425" cy="65084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4" descr="Icon for Dynamics 365 Marketing">
            <a:extLst>
              <a:ext uri="{FF2B5EF4-FFF2-40B4-BE49-F238E27FC236}">
                <a16:creationId xmlns:a16="http://schemas.microsoft.com/office/drawing/2014/main" id="{DA37F1E5-C0E8-A29B-71F5-2EFDDAF76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07" y="6512471"/>
            <a:ext cx="658788" cy="66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Row(Record) Level Privileges in Dynamics 365/Power Platform – Ashish  Vishwakarma">
            <a:extLst>
              <a:ext uri="{FF2B5EF4-FFF2-40B4-BE49-F238E27FC236}">
                <a16:creationId xmlns:a16="http://schemas.microsoft.com/office/drawing/2014/main" id="{A3D2C4D8-62DD-4F6D-32A0-42350F328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199" y="6549547"/>
            <a:ext cx="792966" cy="61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Power Pages - The ultimate user guide">
            <a:extLst>
              <a:ext uri="{FF2B5EF4-FFF2-40B4-BE49-F238E27FC236}">
                <a16:creationId xmlns:a16="http://schemas.microsoft.com/office/drawing/2014/main" id="{FC8097C4-8A20-39CE-66AD-C73A70BFB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889" b="98667" l="889" r="96000">
                        <a14:foregroundMark x1="11111" y1="35111" x2="13333" y2="44000"/>
                        <a14:foregroundMark x1="8889" y1="32889" x2="14222" y2="45778"/>
                        <a14:foregroundMark x1="38667" y1="12000" x2="59556" y2="10222"/>
                        <a14:foregroundMark x1="43556" y1="8889" x2="56889" y2="6222"/>
                        <a14:foregroundMark x1="51111" y1="889" x2="54667" y2="4000"/>
                        <a14:foregroundMark x1="6667" y1="33778" x2="8000" y2="43556"/>
                        <a14:foregroundMark x1="4000" y1="36444" x2="5333" y2="41778"/>
                        <a14:foregroundMark x1="1333" y1="38222" x2="1333" y2="43111"/>
                        <a14:foregroundMark x1="88000" y1="56889" x2="82667" y2="69778"/>
                        <a14:foregroundMark x1="41778" y1="85333" x2="40444" y2="88444"/>
                        <a14:foregroundMark x1="40444" y1="88889" x2="40444" y2="88889"/>
                        <a14:foregroundMark x1="49778" y1="94667" x2="49778" y2="94667"/>
                        <a14:foregroundMark x1="49778" y1="94667" x2="49778" y2="94667"/>
                        <a14:foregroundMark x1="96444" y1="65778" x2="96444" y2="65778"/>
                        <a14:foregroundMark x1="96444" y1="65778" x2="96444" y2="65778"/>
                        <a14:foregroundMark x1="51111" y1="98667" x2="51111" y2="98667"/>
                        <a14:foregroundMark x1="51111" y1="98667" x2="51111" y2="9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0" y="6597253"/>
            <a:ext cx="469374" cy="4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 descr="Azure has a new logo, but where do you download it? Here!">
            <a:extLst>
              <a:ext uri="{FF2B5EF4-FFF2-40B4-BE49-F238E27FC236}">
                <a16:creationId xmlns:a16="http://schemas.microsoft.com/office/drawing/2014/main" id="{5021A008-D8FD-24C2-CAB9-54C18E615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8889" b="89778" l="4889" r="92000">
                        <a14:foregroundMark x1="92444" y1="88889" x2="92444" y2="88889"/>
                        <a14:foregroundMark x1="8889" y1="88000" x2="8889" y2="88000"/>
                        <a14:foregroundMark x1="5333" y1="88889" x2="5333" y2="88889"/>
                        <a14:foregroundMark x1="40000" y1="8889" x2="40000" y2="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427" y="6644641"/>
            <a:ext cx="523814" cy="40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59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0.83933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6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C14AA-8928-652B-309B-F6EA5C31B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414E751-CCA5-6FD9-4ED0-0D750EBBA36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9020" y="2154054"/>
            <a:ext cx="6614471" cy="3289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ertificate of Scholarship">
            <a:extLst>
              <a:ext uri="{FF2B5EF4-FFF2-40B4-BE49-F238E27FC236}">
                <a16:creationId xmlns:a16="http://schemas.microsoft.com/office/drawing/2014/main" id="{AE1865C1-0522-60A5-B9F7-FEEA3C54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1675901"/>
            <a:ext cx="8675370" cy="595315"/>
          </a:xfrm>
        </p:spPr>
        <p:txBody>
          <a:bodyPr/>
          <a:lstStyle/>
          <a:p>
            <a:r>
              <a:rPr lang="en-US" dirty="0"/>
              <a:t>CERTIFICATE OF APPRECIATION</a:t>
            </a:r>
          </a:p>
        </p:txBody>
      </p:sp>
      <p:sp>
        <p:nvSpPr>
          <p:cNvPr id="5" name="This acknowledges that">
            <a:extLst>
              <a:ext uri="{FF2B5EF4-FFF2-40B4-BE49-F238E27FC236}">
                <a16:creationId xmlns:a16="http://schemas.microsoft.com/office/drawing/2014/main" id="{D62B5005-2C77-44D5-75F1-8AAE1D95C0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475" y="2618554"/>
            <a:ext cx="8671560" cy="417743"/>
          </a:xfrm>
        </p:spPr>
        <p:txBody>
          <a:bodyPr/>
          <a:lstStyle/>
          <a:p>
            <a:r>
              <a:rPr lang="en-US" dirty="0"/>
              <a:t>THIS ACKNOWLEDGES THAT</a:t>
            </a:r>
          </a:p>
        </p:txBody>
      </p:sp>
      <p:sp>
        <p:nvSpPr>
          <p:cNvPr id="6" name="Christian Lacombe">
            <a:extLst>
              <a:ext uri="{FF2B5EF4-FFF2-40B4-BE49-F238E27FC236}">
                <a16:creationId xmlns:a16="http://schemas.microsoft.com/office/drawing/2014/main" id="{B091FDD0-69C3-A677-C606-4A8FEEB78B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2991260"/>
            <a:ext cx="8674100" cy="1118504"/>
          </a:xfrm>
        </p:spPr>
        <p:txBody>
          <a:bodyPr>
            <a:normAutofit/>
          </a:bodyPr>
          <a:lstStyle/>
          <a:p>
            <a:r>
              <a:rPr lang="en-US" dirty="0"/>
              <a:t>Ramya </a:t>
            </a:r>
            <a:r>
              <a:rPr lang="en-US" dirty="0" err="1"/>
              <a:t>Saragadam</a:t>
            </a:r>
            <a:endParaRPr lang="en-US" dirty="0"/>
          </a:p>
        </p:txBody>
      </p:sp>
      <p:sp>
        <p:nvSpPr>
          <p:cNvPr id="7" name="has been recognized for outstanding achievement">
            <a:extLst>
              <a:ext uri="{FF2B5EF4-FFF2-40B4-BE49-F238E27FC236}">
                <a16:creationId xmlns:a16="http://schemas.microsoft.com/office/drawing/2014/main" id="{45B62CD6-F9C8-1955-10D4-513228D778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6077" y="4186867"/>
            <a:ext cx="8672830" cy="522968"/>
          </a:xfrm>
        </p:spPr>
        <p:txBody>
          <a:bodyPr>
            <a:noAutofit/>
          </a:bodyPr>
          <a:lstStyle/>
          <a:p>
            <a:r>
              <a:rPr lang="en-US" sz="1800" dirty="0"/>
              <a:t>for delivering an inspiring and insightful session at </a:t>
            </a:r>
            <a:r>
              <a:rPr lang="en-US" sz="1800" b="1" dirty="0"/>
              <a:t>Power Platform Classmates 2025 – Dubai</a:t>
            </a:r>
            <a:r>
              <a:rPr lang="en-US" sz="1800" dirty="0"/>
              <a:t>.</a:t>
            </a:r>
          </a:p>
        </p:txBody>
      </p:sp>
      <p:sp>
        <p:nvSpPr>
          <p:cNvPr id="8" name="Reed Flores, Teacher">
            <a:extLst>
              <a:ext uri="{FF2B5EF4-FFF2-40B4-BE49-F238E27FC236}">
                <a16:creationId xmlns:a16="http://schemas.microsoft.com/office/drawing/2014/main" id="{046A4E10-1C70-49E2-2E0B-946C2F4066D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4909" y="5414139"/>
            <a:ext cx="3607384" cy="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Organizers, </a:t>
            </a:r>
          </a:p>
          <a:p>
            <a:pPr marL="0" indent="0">
              <a:buNone/>
            </a:pPr>
            <a:r>
              <a:rPr lang="en-US" sz="1200" b="1" dirty="0"/>
              <a:t>Power Platform Classmates,</a:t>
            </a:r>
          </a:p>
          <a:p>
            <a:pPr marL="0" indent="0">
              <a:buNone/>
            </a:pPr>
            <a:r>
              <a:rPr lang="en-US" sz="1200" b="1" dirty="0"/>
              <a:t>BITS Pilani, Dubai</a:t>
            </a:r>
          </a:p>
        </p:txBody>
      </p:sp>
      <p:sp>
        <p:nvSpPr>
          <p:cNvPr id="2" name="AutoShape 2" descr="Badge Yellow Circle for Award Badge">
            <a:extLst>
              <a:ext uri="{FF2B5EF4-FFF2-40B4-BE49-F238E27FC236}">
                <a16:creationId xmlns:a16="http://schemas.microsoft.com/office/drawing/2014/main" id="{2B4E1B96-B05B-B694-A77C-8C58CE7ECE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4BAFA3-149E-45B3-6E34-5705C715E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19" l="9903" r="91600">
                        <a14:foregroundMark x1="45712" y1="78318" x2="46508" y2="76449"/>
                        <a14:foregroundMark x1="66490" y1="77664" x2="55349" y2="74206"/>
                        <a14:foregroundMark x1="55349" y1="74206" x2="66225" y2="70467"/>
                        <a14:foregroundMark x1="66225" y1="70467" x2="63660" y2="79252"/>
                        <a14:foregroundMark x1="74978" y1="65327" x2="72679" y2="65327"/>
                        <a14:foregroundMark x1="74801" y1="57664" x2="74801" y2="57664"/>
                        <a14:foregroundMark x1="74978" y1="57477" x2="74978" y2="57477"/>
                        <a14:foregroundMark x1="74978" y1="57477" x2="74978" y2="57477"/>
                        <a14:foregroundMark x1="70380" y1="63458" x2="70380" y2="63458"/>
                        <a14:foregroundMark x1="70380" y1="63458" x2="70380" y2="63458"/>
                        <a14:foregroundMark x1="69761" y1="61028" x2="69761" y2="61028"/>
                        <a14:foregroundMark x1="69761" y1="61028" x2="69408" y2="60093"/>
                        <a14:foregroundMark x1="69408" y1="59720" x2="69408" y2="59720"/>
                        <a14:foregroundMark x1="69408" y1="59720" x2="69408" y2="59720"/>
                        <a14:foregroundMark x1="73386" y1="63458" x2="73386" y2="63458"/>
                        <a14:foregroundMark x1="79576" y1="62804" x2="79576" y2="62804"/>
                        <a14:foregroundMark x1="76835" y1="62243" x2="76304" y2="62150"/>
                        <a14:foregroundMark x1="73475" y1="60935" x2="72944" y2="60374"/>
                        <a14:foregroundMark x1="72944" y1="60374" x2="72944" y2="60374"/>
                        <a14:foregroundMark x1="75685" y1="58318" x2="75685" y2="58318"/>
                        <a14:foregroundMark x1="75685" y1="58318" x2="75685" y2="58318"/>
                        <a14:foregroundMark x1="70203" y1="57477" x2="70203" y2="57477"/>
                        <a14:foregroundMark x1="70203" y1="57477" x2="70203" y2="57477"/>
                        <a14:foregroundMark x1="66225" y1="63458" x2="66225" y2="63458"/>
                        <a14:foregroundMark x1="70027" y1="61869" x2="69673" y2="61682"/>
                        <a14:foregroundMark x1="66667" y1="62617" x2="66667" y2="62617"/>
                        <a14:foregroundMark x1="66667" y1="62617" x2="66667" y2="62617"/>
                        <a14:foregroundMark x1="68966" y1="63458" x2="68966" y2="63458"/>
                        <a14:foregroundMark x1="68966" y1="63458" x2="68966" y2="63458"/>
                        <a14:foregroundMark x1="70203" y1="67944" x2="70292" y2="67477"/>
                        <a14:foregroundMark x1="66225" y1="90467" x2="66225" y2="90467"/>
                        <a14:foregroundMark x1="66225" y1="90374" x2="66225" y2="90374"/>
                        <a14:foregroundMark x1="63926" y1="87009" x2="63926" y2="87009"/>
                        <a14:foregroundMark x1="63926" y1="87009" x2="63926" y2="87009"/>
                        <a14:foregroundMark x1="67109" y1="94019" x2="66313" y2="93832"/>
                        <a14:foregroundMark x1="65164" y1="93271" x2="65164" y2="93271"/>
                        <a14:foregroundMark x1="65517" y1="92523" x2="65959" y2="92523"/>
                        <a14:foregroundMark x1="68877" y1="91308" x2="68877" y2="91308"/>
                        <a14:foregroundMark x1="69231" y1="91308" x2="69231" y2="91308"/>
                        <a14:foregroundMark x1="65694" y1="88411" x2="65694" y2="88411"/>
                        <a14:foregroundMark x1="65340" y1="86729" x2="65340" y2="86729"/>
                        <a14:foregroundMark x1="65340" y1="86729" x2="65340" y2="86729"/>
                        <a14:foregroundMark x1="65340" y1="86729" x2="65340" y2="86729"/>
                        <a14:foregroundMark x1="63749" y1="85607" x2="63749" y2="85607"/>
                        <a14:foregroundMark x1="63749" y1="85607" x2="63749" y2="85607"/>
                        <a14:foregroundMark x1="64368" y1="88411" x2="64368" y2="88411"/>
                        <a14:foregroundMark x1="69408" y1="87664" x2="69408" y2="87664"/>
                        <a14:foregroundMark x1="69408" y1="87664" x2="69408" y2="87664"/>
                        <a14:foregroundMark x1="67109" y1="87196" x2="67109" y2="87196"/>
                        <a14:foregroundMark x1="64810" y1="88411" x2="64810" y2="88411"/>
                        <a14:foregroundMark x1="64810" y1="88411" x2="64810" y2="88411"/>
                        <a14:foregroundMark x1="65429" y1="88598" x2="65429" y2="88598"/>
                        <a14:foregroundMark x1="65517" y1="88598" x2="65517" y2="87477"/>
                        <a14:foregroundMark x1="65340" y1="85981" x2="65340" y2="85981"/>
                        <a14:foregroundMark x1="65340" y1="85981" x2="65340" y2="85981"/>
                        <a14:foregroundMark x1="63926" y1="88972" x2="63926" y2="88972"/>
                        <a14:foregroundMark x1="63660" y1="88224" x2="63660" y2="88224"/>
                        <a14:foregroundMark x1="38108" y1="77103" x2="38108" y2="77103"/>
                        <a14:foregroundMark x1="38108" y1="77103" x2="38108" y2="77103"/>
                        <a14:foregroundMark x1="47126" y1="81028" x2="36782" y2="74766"/>
                        <a14:foregroundMark x1="36782" y1="74766" x2="46684" y2="79813"/>
                        <a14:foregroundMark x1="46684" y1="79813" x2="46508" y2="81308"/>
                        <a14:foregroundMark x1="75508" y1="48037" x2="68789" y2="38411"/>
                        <a14:foregroundMark x1="68789" y1="38411" x2="75685" y2="47570"/>
                        <a14:foregroundMark x1="75685" y1="47570" x2="75950" y2="48972"/>
                        <a14:foregroundMark x1="61362" y1="34393" x2="61362" y2="34393"/>
                        <a14:foregroundMark x1="62069" y1="34579" x2="61450" y2="34860"/>
                        <a14:foregroundMark x1="43855" y1="34953" x2="43236" y2="35234"/>
                        <a14:foregroundMark x1="62865" y1="37103" x2="58090" y2="26355"/>
                        <a14:foregroundMark x1="58090" y1="26355" x2="64456" y2="35607"/>
                        <a14:foregroundMark x1="64456" y1="35607" x2="63042" y2="37009"/>
                        <a14:foregroundMark x1="52608" y1="30467" x2="52608" y2="30467"/>
                        <a14:foregroundMark x1="52608" y1="30467" x2="52608" y2="30467"/>
                        <a14:foregroundMark x1="43059" y1="36542" x2="40760" y2="37757"/>
                        <a14:foregroundMark x1="37224" y1="32804" x2="37224" y2="32804"/>
                        <a14:foregroundMark x1="37224" y1="32804" x2="37224" y2="32804"/>
                        <a14:foregroundMark x1="37224" y1="32804" x2="37224" y2="32804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39611" y1="37383" x2="47038" y2="26168"/>
                        <a14:foregroundMark x1="47038" y1="26168" x2="43324" y2="36168"/>
                        <a14:foregroundMark x1="41645" y1="26168" x2="41645" y2="26168"/>
                        <a14:foregroundMark x1="41645" y1="26168" x2="41645" y2="26168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37577" y1="25234" x2="37577" y2="25234"/>
                        <a14:foregroundMark x1="37577" y1="25234" x2="37577" y2="25234"/>
                        <a14:foregroundMark x1="37577" y1="25234" x2="37577" y2="25234"/>
                        <a14:foregroundMark x1="34925" y1="47944" x2="31477" y2="48879"/>
                        <a14:foregroundMark x1="32361" y1="68598" x2="31742" y2="55514"/>
                        <a14:foregroundMark x1="31742" y1="55514" x2="32449" y2="67477"/>
                        <a14:foregroundMark x1="32449" y1="67477" x2="31565" y2="68505"/>
                        <a14:foregroundMark x1="26172" y1="57757" x2="26172" y2="57757"/>
                        <a14:foregroundMark x1="26172" y1="57757" x2="26172" y2="57757"/>
                        <a14:foregroundMark x1="26172" y1="57757" x2="26172" y2="57757"/>
                        <a14:foregroundMark x1="48187" y1="25607" x2="48187" y2="25607"/>
                        <a14:foregroundMark x1="48187" y1="25607" x2="48187" y2="25607"/>
                        <a14:foregroundMark x1="48187" y1="25607" x2="48187" y2="25607"/>
                        <a14:foregroundMark x1="35013" y1="30187" x2="35013" y2="30187"/>
                        <a14:foregroundMark x1="35013" y1="30187" x2="35013" y2="30187"/>
                        <a14:foregroundMark x1="35102" y1="30374" x2="35102" y2="30374"/>
                        <a14:foregroundMark x1="35102" y1="30374" x2="35544" y2="30374"/>
                        <a14:foregroundMark x1="37843" y1="22804" x2="37843" y2="22804"/>
                        <a14:foregroundMark x1="37843" y1="22804" x2="37843" y2="22804"/>
                        <a14:foregroundMark x1="37666" y1="17757" x2="37666" y2="17757"/>
                        <a14:foregroundMark x1="37666" y1="17757" x2="37666" y2="17757"/>
                        <a14:foregroundMark x1="37666" y1="17757" x2="37666" y2="17757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68081" y1="12804" x2="68081" y2="12804"/>
                        <a14:foregroundMark x1="68081" y1="12804" x2="68081" y2="12804"/>
                        <a14:foregroundMark x1="65959" y1="12897" x2="65959" y2="12897"/>
                        <a14:foregroundMark x1="65959" y1="12897" x2="65959" y2="12897"/>
                        <a14:foregroundMark x1="65959" y1="12897" x2="65959" y2="12897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832" y1="65888" x2="89832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302" y2="68037"/>
                        <a14:foregroundMark x1="91600" y1="67757" x2="91600" y2="67757"/>
                        <a14:foregroundMark x1="91600" y1="67757" x2="91600" y2="67757"/>
                        <a14:foregroundMark x1="91600" y1="67757" x2="91600" y2="67757"/>
                        <a14:foregroundMark x1="80725" y1="62523" x2="80725" y2="62523"/>
                        <a14:foregroundMark x1="80725" y1="62523" x2="80725" y2="62523"/>
                        <a14:foregroundMark x1="80725" y1="62523" x2="80725" y2="62523"/>
                        <a14:foregroundMark x1="32361" y1="47477" x2="29885" y2="48037"/>
                        <a14:foregroundMark x1="10610" y1="36542" x2="10610" y2="36542"/>
                        <a14:foregroundMark x1="10610" y1="36542" x2="10610" y2="36542"/>
                        <a14:foregroundMark x1="10610" y1="36542" x2="10610" y2="36542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48453" y1="30748" x2="48453" y2="30748"/>
                        <a14:foregroundMark x1="48453" y1="30748" x2="48453" y2="30748"/>
                        <a14:foregroundMark x1="48453" y1="30748" x2="48453" y2="30748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8391" y1="38879" x2="18391" y2="38879"/>
                        <a14:foregroundMark x1="18391" y1="38879" x2="18391" y2="39252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64279" y1="26542" x2="64279" y2="26542"/>
                        <a14:foregroundMark x1="64279" y1="26542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5774" y1="70187" x2="75774" y2="70187"/>
                        <a14:foregroundMark x1="75774" y1="70187" x2="75774" y2="70187"/>
                        <a14:foregroundMark x1="75774" y1="70187" x2="75774" y2="70187"/>
                        <a14:foregroundMark x1="75774" y1="69159" x2="75774" y2="69159"/>
                        <a14:foregroundMark x1="75774" y1="69159" x2="75774" y2="69159"/>
                        <a14:foregroundMark x1="75774" y1="69159" x2="75774" y2="69159"/>
                        <a14:foregroundMark x1="78691" y1="65234" x2="78691" y2="65234"/>
                        <a14:foregroundMark x1="78691" y1="65234" x2="78691" y2="65234"/>
                        <a14:foregroundMark x1="44828" y1="23084" x2="44828" y2="23084"/>
                        <a14:foregroundMark x1="44828" y1="23084" x2="44828" y2="23084"/>
                        <a14:foregroundMark x1="44828" y1="23084" x2="44828" y2="23084"/>
                        <a14:foregroundMark x1="38373" y1="23645" x2="38373" y2="23645"/>
                        <a14:foregroundMark x1="38373" y1="23645" x2="38373" y2="23645"/>
                        <a14:foregroundMark x1="39788" y1="25327" x2="39788" y2="25327"/>
                        <a14:foregroundMark x1="39965" y1="23178" x2="39965" y2="23178"/>
                        <a14:foregroundMark x1="39965" y1="23178" x2="39965" y2="23178"/>
                        <a14:foregroundMark x1="36074" y1="18505" x2="36074" y2="18505"/>
                        <a14:foregroundMark x1="36074" y1="18505" x2="36074" y2="18505"/>
                        <a14:foregroundMark x1="36074" y1="18505" x2="36074" y2="18505"/>
                        <a14:foregroundMark x1="33864" y1="14299" x2="33864" y2="14299"/>
                        <a14:foregroundMark x1="33864" y1="14299" x2="33864" y2="14299"/>
                        <a14:foregroundMark x1="39611" y1="19720" x2="37577" y2="19252"/>
                        <a14:foregroundMark x1="64545" y1="19813" x2="63484" y2="20654"/>
                        <a14:foregroundMark x1="85853" y1="36449" x2="84881" y2="36729"/>
                        <a14:foregroundMark x1="85853" y1="41402" x2="86384" y2="40935"/>
                        <a14:foregroundMark x1="85500" y1="68598" x2="86030" y2="69439"/>
                        <a14:foregroundMark x1="85234" y1="70374" x2="84615" y2="69159"/>
                        <a14:foregroundMark x1="37312" y1="90374" x2="37224" y2="90093"/>
                        <a14:foregroundMark x1="37931" y1="88972" x2="38373" y2="88879"/>
                        <a14:foregroundMark x1="36074" y1="91028" x2="35897" y2="90374"/>
                        <a14:foregroundMark x1="33864" y1="88411" x2="36163" y2="89159"/>
                        <a14:foregroundMark x1="16092" y1="70467" x2="15208" y2="67664"/>
                        <a14:foregroundMark x1="15119" y1="70748" x2="15119" y2="70748"/>
                        <a14:foregroundMark x1="15119" y1="70748" x2="15119" y2="70748"/>
                        <a14:foregroundMark x1="17241" y1="70093" x2="17772" y2="68879"/>
                        <a14:foregroundMark x1="23607" y1="65607" x2="23607" y2="65607"/>
                        <a14:foregroundMark x1="23607" y1="65607" x2="23607" y2="65607"/>
                        <a14:foregroundMark x1="22370" y1="64673" x2="22370" y2="64673"/>
                        <a14:foregroundMark x1="18921" y1="40187" x2="15296" y2="38785"/>
                        <a14:backgroundMark x1="23165" y1="27570" x2="9991" y2="20280"/>
                        <a14:backgroundMark x1="9991" y1="20280" x2="5128" y2="7757"/>
                        <a14:backgroundMark x1="5128" y1="7757" x2="24050" y2="14860"/>
                        <a14:backgroundMark x1="24050" y1="14860" x2="22989" y2="27290"/>
                        <a14:backgroundMark x1="22989" y1="27290" x2="22193" y2="26822"/>
                        <a14:backgroundMark x1="27233" y1="28037" x2="10698" y2="21869"/>
                        <a14:backgroundMark x1="10698" y1="21869" x2="5217" y2="9346"/>
                        <a14:backgroundMark x1="5217" y1="9346" x2="17683" y2="9533"/>
                        <a14:backgroundMark x1="17683" y1="9533" x2="24492" y2="24766"/>
                        <a14:backgroundMark x1="24492" y1="24766" x2="26967" y2="275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3153" y="612169"/>
            <a:ext cx="1136107" cy="1074833"/>
          </a:xfrm>
          <a:prstGeom prst="rect">
            <a:avLst/>
          </a:prstGeom>
        </p:spPr>
      </p:pic>
      <p:sp>
        <p:nvSpPr>
          <p:cNvPr id="22" name="Reed Flores, Teacher">
            <a:extLst>
              <a:ext uri="{FF2B5EF4-FFF2-40B4-BE49-F238E27FC236}">
                <a16:creationId xmlns:a16="http://schemas.microsoft.com/office/drawing/2014/main" id="{5846728A-2DE7-4DDB-3AD9-D068A3E7EA0C}"/>
              </a:ext>
            </a:extLst>
          </p:cNvPr>
          <p:cNvSpPr txBox="1">
            <a:spLocks/>
          </p:cNvSpPr>
          <p:nvPr/>
        </p:nvSpPr>
        <p:spPr>
          <a:xfrm>
            <a:off x="6106326" y="5680739"/>
            <a:ext cx="1798017" cy="25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/>
              <a:t>04 Oct,  2025</a:t>
            </a:r>
          </a:p>
        </p:txBody>
      </p:sp>
      <p:pic>
        <p:nvPicPr>
          <p:cNvPr id="28" name="Picture 6" descr="Image result for Power apps logo">
            <a:extLst>
              <a:ext uri="{FF2B5EF4-FFF2-40B4-BE49-F238E27FC236}">
                <a16:creationId xmlns:a16="http://schemas.microsoft.com/office/drawing/2014/main" id="{D4EE60E6-7759-6FB6-5C36-2A1DCAC7C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388" y="6599707"/>
            <a:ext cx="742563" cy="5398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Image result for Power BI logo">
            <a:extLst>
              <a:ext uri="{FF2B5EF4-FFF2-40B4-BE49-F238E27FC236}">
                <a16:creationId xmlns:a16="http://schemas.microsoft.com/office/drawing/2014/main" id="{7810082C-2F12-55FC-7692-391FAE8B8B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5171" r="846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4" r="6644"/>
          <a:stretch/>
        </p:blipFill>
        <p:spPr bwMode="auto">
          <a:xfrm>
            <a:off x="3173919" y="6578581"/>
            <a:ext cx="477718" cy="5068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Image result for power virtual agents logo">
            <a:extLst>
              <a:ext uri="{FF2B5EF4-FFF2-40B4-BE49-F238E27FC236}">
                <a16:creationId xmlns:a16="http://schemas.microsoft.com/office/drawing/2014/main" id="{D0697BF6-59EA-7DFE-ED88-B7DCF0E70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39" y="6533737"/>
            <a:ext cx="626538" cy="707972"/>
          </a:xfrm>
          <a:prstGeom prst="ellipse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Power BI Desktop Connecting to Dataverse - Hat Full of Data">
            <a:extLst>
              <a:ext uri="{FF2B5EF4-FFF2-40B4-BE49-F238E27FC236}">
                <a16:creationId xmlns:a16="http://schemas.microsoft.com/office/drawing/2014/main" id="{762BAC24-54B5-D3AD-008F-32C8E9E14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778" b="89778" l="2667" r="95556">
                        <a14:foregroundMark x1="90222" y1="48444" x2="90222" y2="48444"/>
                        <a14:foregroundMark x1="95556" y1="48444" x2="95556" y2="48444"/>
                        <a14:foregroundMark x1="6222" y1="59556" x2="6222" y2="59556"/>
                        <a14:foregroundMark x1="2667" y1="54667" x2="2667" y2="5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77" y="6583652"/>
            <a:ext cx="568427" cy="51267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28F6DD4-CC8F-2120-D51E-B0A73B680EAF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9069" r="21546" b="8853"/>
          <a:stretch/>
        </p:blipFill>
        <p:spPr>
          <a:xfrm>
            <a:off x="2763760" y="6702921"/>
            <a:ext cx="412375" cy="34906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52C740D9-FAAF-732B-4374-B61766A17F1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825" y="6644992"/>
            <a:ext cx="459445" cy="459445"/>
          </a:xfrm>
          <a:prstGeom prst="rect">
            <a:avLst/>
          </a:prstGeom>
        </p:spPr>
      </p:pic>
      <p:pic>
        <p:nvPicPr>
          <p:cNvPr id="35" name="Picture 16" descr="Icon for Dynamics 365 Customer Service">
            <a:extLst>
              <a:ext uri="{FF2B5EF4-FFF2-40B4-BE49-F238E27FC236}">
                <a16:creationId xmlns:a16="http://schemas.microsoft.com/office/drawing/2014/main" id="{6A166D97-2379-D971-EE70-8042D3342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158" y="6589020"/>
            <a:ext cx="699650" cy="54449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8" descr="Icon for Dynamics 365 Field Service">
            <a:extLst>
              <a:ext uri="{FF2B5EF4-FFF2-40B4-BE49-F238E27FC236}">
                <a16:creationId xmlns:a16="http://schemas.microsoft.com/office/drawing/2014/main" id="{F440F6EB-0143-087D-C2CD-1EEC04B68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999" y="6515329"/>
            <a:ext cx="658788" cy="6703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Icon for Dynamics 365 Sales">
            <a:extLst>
              <a:ext uri="{FF2B5EF4-FFF2-40B4-BE49-F238E27FC236}">
                <a16:creationId xmlns:a16="http://schemas.microsoft.com/office/drawing/2014/main" id="{9345BF87-FFA1-58D8-555F-ADEFC6B01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01" y="6509382"/>
            <a:ext cx="673425" cy="65084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4" descr="Icon for Dynamics 365 Marketing">
            <a:extLst>
              <a:ext uri="{FF2B5EF4-FFF2-40B4-BE49-F238E27FC236}">
                <a16:creationId xmlns:a16="http://schemas.microsoft.com/office/drawing/2014/main" id="{EE1ACF47-F8C3-48C7-120C-FB3995BE3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07" y="6512471"/>
            <a:ext cx="658788" cy="66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Row(Record) Level Privileges in Dynamics 365/Power Platform – Ashish  Vishwakarma">
            <a:extLst>
              <a:ext uri="{FF2B5EF4-FFF2-40B4-BE49-F238E27FC236}">
                <a16:creationId xmlns:a16="http://schemas.microsoft.com/office/drawing/2014/main" id="{68CAEF69-E694-6275-A78B-8ACA864FD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199" y="6549547"/>
            <a:ext cx="792966" cy="61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Power Pages - The ultimate user guide">
            <a:extLst>
              <a:ext uri="{FF2B5EF4-FFF2-40B4-BE49-F238E27FC236}">
                <a16:creationId xmlns:a16="http://schemas.microsoft.com/office/drawing/2014/main" id="{EA81FED1-3EB8-BE20-4DA9-61E8B0E3E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889" b="98667" l="889" r="96000">
                        <a14:foregroundMark x1="11111" y1="35111" x2="13333" y2="44000"/>
                        <a14:foregroundMark x1="8889" y1="32889" x2="14222" y2="45778"/>
                        <a14:foregroundMark x1="38667" y1="12000" x2="59556" y2="10222"/>
                        <a14:foregroundMark x1="43556" y1="8889" x2="56889" y2="6222"/>
                        <a14:foregroundMark x1="51111" y1="889" x2="54667" y2="4000"/>
                        <a14:foregroundMark x1="6667" y1="33778" x2="8000" y2="43556"/>
                        <a14:foregroundMark x1="4000" y1="36444" x2="5333" y2="41778"/>
                        <a14:foregroundMark x1="1333" y1="38222" x2="1333" y2="43111"/>
                        <a14:foregroundMark x1="88000" y1="56889" x2="82667" y2="69778"/>
                        <a14:foregroundMark x1="41778" y1="85333" x2="40444" y2="88444"/>
                        <a14:foregroundMark x1="40444" y1="88889" x2="40444" y2="88889"/>
                        <a14:foregroundMark x1="49778" y1="94667" x2="49778" y2="94667"/>
                        <a14:foregroundMark x1="49778" y1="94667" x2="49778" y2="94667"/>
                        <a14:foregroundMark x1="96444" y1="65778" x2="96444" y2="65778"/>
                        <a14:foregroundMark x1="96444" y1="65778" x2="96444" y2="65778"/>
                        <a14:foregroundMark x1="51111" y1="98667" x2="51111" y2="98667"/>
                        <a14:foregroundMark x1="51111" y1="98667" x2="51111" y2="9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0" y="6597253"/>
            <a:ext cx="469374" cy="4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 descr="Azure has a new logo, but where do you download it? Here!">
            <a:extLst>
              <a:ext uri="{FF2B5EF4-FFF2-40B4-BE49-F238E27FC236}">
                <a16:creationId xmlns:a16="http://schemas.microsoft.com/office/drawing/2014/main" id="{21E9A06B-AE05-06F6-EFED-709DA2FD1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8889" b="89778" l="4889" r="92000">
                        <a14:foregroundMark x1="92444" y1="88889" x2="92444" y2="88889"/>
                        <a14:foregroundMark x1="8889" y1="88000" x2="8889" y2="88000"/>
                        <a14:foregroundMark x1="5333" y1="88889" x2="5333" y2="88889"/>
                        <a14:foregroundMark x1="40000" y1="8889" x2="40000" y2="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427" y="6644641"/>
            <a:ext cx="523814" cy="40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687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0.83933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6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35BF-282B-D506-8F1D-CB5DFEB1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6A32015-EDF8-1E02-DBFB-37B1297965E6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9020" y="2154054"/>
            <a:ext cx="6614471" cy="3289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ertificate of Scholarship">
            <a:extLst>
              <a:ext uri="{FF2B5EF4-FFF2-40B4-BE49-F238E27FC236}">
                <a16:creationId xmlns:a16="http://schemas.microsoft.com/office/drawing/2014/main" id="{3D1866BD-7063-6E98-72B5-9DA631D5D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1675901"/>
            <a:ext cx="8675370" cy="595315"/>
          </a:xfrm>
        </p:spPr>
        <p:txBody>
          <a:bodyPr/>
          <a:lstStyle/>
          <a:p>
            <a:r>
              <a:rPr lang="en-US" dirty="0"/>
              <a:t>CERTIFICATE OF APPRECIATION</a:t>
            </a:r>
          </a:p>
        </p:txBody>
      </p:sp>
      <p:sp>
        <p:nvSpPr>
          <p:cNvPr id="5" name="This acknowledges that">
            <a:extLst>
              <a:ext uri="{FF2B5EF4-FFF2-40B4-BE49-F238E27FC236}">
                <a16:creationId xmlns:a16="http://schemas.microsoft.com/office/drawing/2014/main" id="{F88BB4DD-7384-049C-BB57-D86C05BD49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475" y="2618554"/>
            <a:ext cx="8671560" cy="417743"/>
          </a:xfrm>
        </p:spPr>
        <p:txBody>
          <a:bodyPr/>
          <a:lstStyle/>
          <a:p>
            <a:r>
              <a:rPr lang="en-US" dirty="0"/>
              <a:t>THIS ACKNOWLEDGES THAT</a:t>
            </a:r>
          </a:p>
        </p:txBody>
      </p:sp>
      <p:sp>
        <p:nvSpPr>
          <p:cNvPr id="6" name="Christian Lacombe">
            <a:extLst>
              <a:ext uri="{FF2B5EF4-FFF2-40B4-BE49-F238E27FC236}">
                <a16:creationId xmlns:a16="http://schemas.microsoft.com/office/drawing/2014/main" id="{40E0ECF5-A399-E63B-3BC2-57CC25A7CD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2991260"/>
            <a:ext cx="8674100" cy="1118504"/>
          </a:xfrm>
        </p:spPr>
        <p:txBody>
          <a:bodyPr>
            <a:normAutofit/>
          </a:bodyPr>
          <a:lstStyle/>
          <a:p>
            <a:r>
              <a:rPr lang="en-US" dirty="0"/>
              <a:t>Moiz Lokhandwala</a:t>
            </a:r>
          </a:p>
        </p:txBody>
      </p:sp>
      <p:sp>
        <p:nvSpPr>
          <p:cNvPr id="7" name="has been recognized for outstanding achievement">
            <a:extLst>
              <a:ext uri="{FF2B5EF4-FFF2-40B4-BE49-F238E27FC236}">
                <a16:creationId xmlns:a16="http://schemas.microsoft.com/office/drawing/2014/main" id="{003EFC2B-5665-B85F-5F68-03CD857964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6077" y="4186867"/>
            <a:ext cx="8672830" cy="522968"/>
          </a:xfrm>
        </p:spPr>
        <p:txBody>
          <a:bodyPr>
            <a:noAutofit/>
          </a:bodyPr>
          <a:lstStyle/>
          <a:p>
            <a:r>
              <a:rPr lang="en-US" sz="1800" dirty="0"/>
              <a:t>for delivering an inspiring and insightful session at </a:t>
            </a:r>
            <a:r>
              <a:rPr lang="en-US" sz="1800" b="1" dirty="0"/>
              <a:t>Power Platform Classmates 2025 – Dubai</a:t>
            </a:r>
            <a:r>
              <a:rPr lang="en-US" sz="1800" dirty="0"/>
              <a:t>.</a:t>
            </a:r>
          </a:p>
        </p:txBody>
      </p:sp>
      <p:sp>
        <p:nvSpPr>
          <p:cNvPr id="8" name="Reed Flores, Teacher">
            <a:extLst>
              <a:ext uri="{FF2B5EF4-FFF2-40B4-BE49-F238E27FC236}">
                <a16:creationId xmlns:a16="http://schemas.microsoft.com/office/drawing/2014/main" id="{B55EB1EB-D3C1-B948-3AE3-A796EAD849C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4909" y="5414139"/>
            <a:ext cx="3607384" cy="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Organizers, </a:t>
            </a:r>
          </a:p>
          <a:p>
            <a:pPr marL="0" indent="0">
              <a:buNone/>
            </a:pPr>
            <a:r>
              <a:rPr lang="en-US" sz="1200" b="1" dirty="0"/>
              <a:t>Power Platform Classmates,</a:t>
            </a:r>
          </a:p>
          <a:p>
            <a:pPr marL="0" indent="0">
              <a:buNone/>
            </a:pPr>
            <a:r>
              <a:rPr lang="en-US" sz="1200" b="1" dirty="0"/>
              <a:t>BITS Pilani, Dubai</a:t>
            </a:r>
          </a:p>
        </p:txBody>
      </p:sp>
      <p:sp>
        <p:nvSpPr>
          <p:cNvPr id="2" name="AutoShape 2" descr="Badge Yellow Circle for Award Badge">
            <a:extLst>
              <a:ext uri="{FF2B5EF4-FFF2-40B4-BE49-F238E27FC236}">
                <a16:creationId xmlns:a16="http://schemas.microsoft.com/office/drawing/2014/main" id="{65531AE4-0D37-3022-7B14-F636210E79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1F0BD5-B87C-0C4B-5B9B-B2B4B3219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19" l="9903" r="91600">
                        <a14:foregroundMark x1="45712" y1="78318" x2="46508" y2="76449"/>
                        <a14:foregroundMark x1="66490" y1="77664" x2="55349" y2="74206"/>
                        <a14:foregroundMark x1="55349" y1="74206" x2="66225" y2="70467"/>
                        <a14:foregroundMark x1="66225" y1="70467" x2="63660" y2="79252"/>
                        <a14:foregroundMark x1="74978" y1="65327" x2="72679" y2="65327"/>
                        <a14:foregroundMark x1="74801" y1="57664" x2="74801" y2="57664"/>
                        <a14:foregroundMark x1="74978" y1="57477" x2="74978" y2="57477"/>
                        <a14:foregroundMark x1="74978" y1="57477" x2="74978" y2="57477"/>
                        <a14:foregroundMark x1="70380" y1="63458" x2="70380" y2="63458"/>
                        <a14:foregroundMark x1="70380" y1="63458" x2="70380" y2="63458"/>
                        <a14:foregroundMark x1="69761" y1="61028" x2="69761" y2="61028"/>
                        <a14:foregroundMark x1="69761" y1="61028" x2="69408" y2="60093"/>
                        <a14:foregroundMark x1="69408" y1="59720" x2="69408" y2="59720"/>
                        <a14:foregroundMark x1="69408" y1="59720" x2="69408" y2="59720"/>
                        <a14:foregroundMark x1="73386" y1="63458" x2="73386" y2="63458"/>
                        <a14:foregroundMark x1="79576" y1="62804" x2="79576" y2="62804"/>
                        <a14:foregroundMark x1="76835" y1="62243" x2="76304" y2="62150"/>
                        <a14:foregroundMark x1="73475" y1="60935" x2="72944" y2="60374"/>
                        <a14:foregroundMark x1="72944" y1="60374" x2="72944" y2="60374"/>
                        <a14:foregroundMark x1="75685" y1="58318" x2="75685" y2="58318"/>
                        <a14:foregroundMark x1="75685" y1="58318" x2="75685" y2="58318"/>
                        <a14:foregroundMark x1="70203" y1="57477" x2="70203" y2="57477"/>
                        <a14:foregroundMark x1="70203" y1="57477" x2="70203" y2="57477"/>
                        <a14:foregroundMark x1="66225" y1="63458" x2="66225" y2="63458"/>
                        <a14:foregroundMark x1="70027" y1="61869" x2="69673" y2="61682"/>
                        <a14:foregroundMark x1="66667" y1="62617" x2="66667" y2="62617"/>
                        <a14:foregroundMark x1="66667" y1="62617" x2="66667" y2="62617"/>
                        <a14:foregroundMark x1="68966" y1="63458" x2="68966" y2="63458"/>
                        <a14:foregroundMark x1="68966" y1="63458" x2="68966" y2="63458"/>
                        <a14:foregroundMark x1="70203" y1="67944" x2="70292" y2="67477"/>
                        <a14:foregroundMark x1="66225" y1="90467" x2="66225" y2="90467"/>
                        <a14:foregroundMark x1="66225" y1="90374" x2="66225" y2="90374"/>
                        <a14:foregroundMark x1="63926" y1="87009" x2="63926" y2="87009"/>
                        <a14:foregroundMark x1="63926" y1="87009" x2="63926" y2="87009"/>
                        <a14:foregroundMark x1="67109" y1="94019" x2="66313" y2="93832"/>
                        <a14:foregroundMark x1="65164" y1="93271" x2="65164" y2="93271"/>
                        <a14:foregroundMark x1="65517" y1="92523" x2="65959" y2="92523"/>
                        <a14:foregroundMark x1="68877" y1="91308" x2="68877" y2="91308"/>
                        <a14:foregroundMark x1="69231" y1="91308" x2="69231" y2="91308"/>
                        <a14:foregroundMark x1="65694" y1="88411" x2="65694" y2="88411"/>
                        <a14:foregroundMark x1="65340" y1="86729" x2="65340" y2="86729"/>
                        <a14:foregroundMark x1="65340" y1="86729" x2="65340" y2="86729"/>
                        <a14:foregroundMark x1="65340" y1="86729" x2="65340" y2="86729"/>
                        <a14:foregroundMark x1="63749" y1="85607" x2="63749" y2="85607"/>
                        <a14:foregroundMark x1="63749" y1="85607" x2="63749" y2="85607"/>
                        <a14:foregroundMark x1="64368" y1="88411" x2="64368" y2="88411"/>
                        <a14:foregroundMark x1="69408" y1="87664" x2="69408" y2="87664"/>
                        <a14:foregroundMark x1="69408" y1="87664" x2="69408" y2="87664"/>
                        <a14:foregroundMark x1="67109" y1="87196" x2="67109" y2="87196"/>
                        <a14:foregroundMark x1="64810" y1="88411" x2="64810" y2="88411"/>
                        <a14:foregroundMark x1="64810" y1="88411" x2="64810" y2="88411"/>
                        <a14:foregroundMark x1="65429" y1="88598" x2="65429" y2="88598"/>
                        <a14:foregroundMark x1="65517" y1="88598" x2="65517" y2="87477"/>
                        <a14:foregroundMark x1="65340" y1="85981" x2="65340" y2="85981"/>
                        <a14:foregroundMark x1="65340" y1="85981" x2="65340" y2="85981"/>
                        <a14:foregroundMark x1="63926" y1="88972" x2="63926" y2="88972"/>
                        <a14:foregroundMark x1="63660" y1="88224" x2="63660" y2="88224"/>
                        <a14:foregroundMark x1="38108" y1="77103" x2="38108" y2="77103"/>
                        <a14:foregroundMark x1="38108" y1="77103" x2="38108" y2="77103"/>
                        <a14:foregroundMark x1="47126" y1="81028" x2="36782" y2="74766"/>
                        <a14:foregroundMark x1="36782" y1="74766" x2="46684" y2="79813"/>
                        <a14:foregroundMark x1="46684" y1="79813" x2="46508" y2="81308"/>
                        <a14:foregroundMark x1="75508" y1="48037" x2="68789" y2="38411"/>
                        <a14:foregroundMark x1="68789" y1="38411" x2="75685" y2="47570"/>
                        <a14:foregroundMark x1="75685" y1="47570" x2="75950" y2="48972"/>
                        <a14:foregroundMark x1="61362" y1="34393" x2="61362" y2="34393"/>
                        <a14:foregroundMark x1="62069" y1="34579" x2="61450" y2="34860"/>
                        <a14:foregroundMark x1="43855" y1="34953" x2="43236" y2="35234"/>
                        <a14:foregroundMark x1="62865" y1="37103" x2="58090" y2="26355"/>
                        <a14:foregroundMark x1="58090" y1="26355" x2="64456" y2="35607"/>
                        <a14:foregroundMark x1="64456" y1="35607" x2="63042" y2="37009"/>
                        <a14:foregroundMark x1="52608" y1="30467" x2="52608" y2="30467"/>
                        <a14:foregroundMark x1="52608" y1="30467" x2="52608" y2="30467"/>
                        <a14:foregroundMark x1="43059" y1="36542" x2="40760" y2="37757"/>
                        <a14:foregroundMark x1="37224" y1="32804" x2="37224" y2="32804"/>
                        <a14:foregroundMark x1="37224" y1="32804" x2="37224" y2="32804"/>
                        <a14:foregroundMark x1="37224" y1="32804" x2="37224" y2="32804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39611" y1="37383" x2="47038" y2="26168"/>
                        <a14:foregroundMark x1="47038" y1="26168" x2="43324" y2="36168"/>
                        <a14:foregroundMark x1="41645" y1="26168" x2="41645" y2="26168"/>
                        <a14:foregroundMark x1="41645" y1="26168" x2="41645" y2="26168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37577" y1="25234" x2="37577" y2="25234"/>
                        <a14:foregroundMark x1="37577" y1="25234" x2="37577" y2="25234"/>
                        <a14:foregroundMark x1="37577" y1="25234" x2="37577" y2="25234"/>
                        <a14:foregroundMark x1="34925" y1="47944" x2="31477" y2="48879"/>
                        <a14:foregroundMark x1="32361" y1="68598" x2="31742" y2="55514"/>
                        <a14:foregroundMark x1="31742" y1="55514" x2="32449" y2="67477"/>
                        <a14:foregroundMark x1="32449" y1="67477" x2="31565" y2="68505"/>
                        <a14:foregroundMark x1="26172" y1="57757" x2="26172" y2="57757"/>
                        <a14:foregroundMark x1="26172" y1="57757" x2="26172" y2="57757"/>
                        <a14:foregroundMark x1="26172" y1="57757" x2="26172" y2="57757"/>
                        <a14:foregroundMark x1="48187" y1="25607" x2="48187" y2="25607"/>
                        <a14:foregroundMark x1="48187" y1="25607" x2="48187" y2="25607"/>
                        <a14:foregroundMark x1="48187" y1="25607" x2="48187" y2="25607"/>
                        <a14:foregroundMark x1="35013" y1="30187" x2="35013" y2="30187"/>
                        <a14:foregroundMark x1="35013" y1="30187" x2="35013" y2="30187"/>
                        <a14:foregroundMark x1="35102" y1="30374" x2="35102" y2="30374"/>
                        <a14:foregroundMark x1="35102" y1="30374" x2="35544" y2="30374"/>
                        <a14:foregroundMark x1="37843" y1="22804" x2="37843" y2="22804"/>
                        <a14:foregroundMark x1="37843" y1="22804" x2="37843" y2="22804"/>
                        <a14:foregroundMark x1="37666" y1="17757" x2="37666" y2="17757"/>
                        <a14:foregroundMark x1="37666" y1="17757" x2="37666" y2="17757"/>
                        <a14:foregroundMark x1="37666" y1="17757" x2="37666" y2="17757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68081" y1="12804" x2="68081" y2="12804"/>
                        <a14:foregroundMark x1="68081" y1="12804" x2="68081" y2="12804"/>
                        <a14:foregroundMark x1="65959" y1="12897" x2="65959" y2="12897"/>
                        <a14:foregroundMark x1="65959" y1="12897" x2="65959" y2="12897"/>
                        <a14:foregroundMark x1="65959" y1="12897" x2="65959" y2="12897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832" y1="65888" x2="89832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302" y2="68037"/>
                        <a14:foregroundMark x1="91600" y1="67757" x2="91600" y2="67757"/>
                        <a14:foregroundMark x1="91600" y1="67757" x2="91600" y2="67757"/>
                        <a14:foregroundMark x1="91600" y1="67757" x2="91600" y2="67757"/>
                        <a14:foregroundMark x1="80725" y1="62523" x2="80725" y2="62523"/>
                        <a14:foregroundMark x1="80725" y1="62523" x2="80725" y2="62523"/>
                        <a14:foregroundMark x1="80725" y1="62523" x2="80725" y2="62523"/>
                        <a14:foregroundMark x1="32361" y1="47477" x2="29885" y2="48037"/>
                        <a14:foregroundMark x1="10610" y1="36542" x2="10610" y2="36542"/>
                        <a14:foregroundMark x1="10610" y1="36542" x2="10610" y2="36542"/>
                        <a14:foregroundMark x1="10610" y1="36542" x2="10610" y2="36542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48453" y1="30748" x2="48453" y2="30748"/>
                        <a14:foregroundMark x1="48453" y1="30748" x2="48453" y2="30748"/>
                        <a14:foregroundMark x1="48453" y1="30748" x2="48453" y2="30748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8391" y1="38879" x2="18391" y2="38879"/>
                        <a14:foregroundMark x1="18391" y1="38879" x2="18391" y2="39252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64279" y1="26542" x2="64279" y2="26542"/>
                        <a14:foregroundMark x1="64279" y1="26542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5774" y1="70187" x2="75774" y2="70187"/>
                        <a14:foregroundMark x1="75774" y1="70187" x2="75774" y2="70187"/>
                        <a14:foregroundMark x1="75774" y1="70187" x2="75774" y2="70187"/>
                        <a14:foregroundMark x1="75774" y1="69159" x2="75774" y2="69159"/>
                        <a14:foregroundMark x1="75774" y1="69159" x2="75774" y2="69159"/>
                        <a14:foregroundMark x1="75774" y1="69159" x2="75774" y2="69159"/>
                        <a14:foregroundMark x1="78691" y1="65234" x2="78691" y2="65234"/>
                        <a14:foregroundMark x1="78691" y1="65234" x2="78691" y2="65234"/>
                        <a14:foregroundMark x1="44828" y1="23084" x2="44828" y2="23084"/>
                        <a14:foregroundMark x1="44828" y1="23084" x2="44828" y2="23084"/>
                        <a14:foregroundMark x1="44828" y1="23084" x2="44828" y2="23084"/>
                        <a14:foregroundMark x1="38373" y1="23645" x2="38373" y2="23645"/>
                        <a14:foregroundMark x1="38373" y1="23645" x2="38373" y2="23645"/>
                        <a14:foregroundMark x1="39788" y1="25327" x2="39788" y2="25327"/>
                        <a14:foregroundMark x1="39965" y1="23178" x2="39965" y2="23178"/>
                        <a14:foregroundMark x1="39965" y1="23178" x2="39965" y2="23178"/>
                        <a14:foregroundMark x1="36074" y1="18505" x2="36074" y2="18505"/>
                        <a14:foregroundMark x1="36074" y1="18505" x2="36074" y2="18505"/>
                        <a14:foregroundMark x1="36074" y1="18505" x2="36074" y2="18505"/>
                        <a14:foregroundMark x1="33864" y1="14299" x2="33864" y2="14299"/>
                        <a14:foregroundMark x1="33864" y1="14299" x2="33864" y2="14299"/>
                        <a14:foregroundMark x1="39611" y1="19720" x2="37577" y2="19252"/>
                        <a14:foregroundMark x1="64545" y1="19813" x2="63484" y2="20654"/>
                        <a14:foregroundMark x1="85853" y1="36449" x2="84881" y2="36729"/>
                        <a14:foregroundMark x1="85853" y1="41402" x2="86384" y2="40935"/>
                        <a14:foregroundMark x1="85500" y1="68598" x2="86030" y2="69439"/>
                        <a14:foregroundMark x1="85234" y1="70374" x2="84615" y2="69159"/>
                        <a14:foregroundMark x1="37312" y1="90374" x2="37224" y2="90093"/>
                        <a14:foregroundMark x1="37931" y1="88972" x2="38373" y2="88879"/>
                        <a14:foregroundMark x1="36074" y1="91028" x2="35897" y2="90374"/>
                        <a14:foregroundMark x1="33864" y1="88411" x2="36163" y2="89159"/>
                        <a14:foregroundMark x1="16092" y1="70467" x2="15208" y2="67664"/>
                        <a14:foregroundMark x1="15119" y1="70748" x2="15119" y2="70748"/>
                        <a14:foregroundMark x1="15119" y1="70748" x2="15119" y2="70748"/>
                        <a14:foregroundMark x1="17241" y1="70093" x2="17772" y2="68879"/>
                        <a14:foregroundMark x1="23607" y1="65607" x2="23607" y2="65607"/>
                        <a14:foregroundMark x1="23607" y1="65607" x2="23607" y2="65607"/>
                        <a14:foregroundMark x1="22370" y1="64673" x2="22370" y2="64673"/>
                        <a14:foregroundMark x1="18921" y1="40187" x2="15296" y2="38785"/>
                        <a14:backgroundMark x1="23165" y1="27570" x2="9991" y2="20280"/>
                        <a14:backgroundMark x1="9991" y1="20280" x2="5128" y2="7757"/>
                        <a14:backgroundMark x1="5128" y1="7757" x2="24050" y2="14860"/>
                        <a14:backgroundMark x1="24050" y1="14860" x2="22989" y2="27290"/>
                        <a14:backgroundMark x1="22989" y1="27290" x2="22193" y2="26822"/>
                        <a14:backgroundMark x1="27233" y1="28037" x2="10698" y2="21869"/>
                        <a14:backgroundMark x1="10698" y1="21869" x2="5217" y2="9346"/>
                        <a14:backgroundMark x1="5217" y1="9346" x2="17683" y2="9533"/>
                        <a14:backgroundMark x1="17683" y1="9533" x2="24492" y2="24766"/>
                        <a14:backgroundMark x1="24492" y1="24766" x2="26967" y2="275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3153" y="612169"/>
            <a:ext cx="1136107" cy="1074833"/>
          </a:xfrm>
          <a:prstGeom prst="rect">
            <a:avLst/>
          </a:prstGeom>
        </p:spPr>
      </p:pic>
      <p:sp>
        <p:nvSpPr>
          <p:cNvPr id="22" name="Reed Flores, Teacher">
            <a:extLst>
              <a:ext uri="{FF2B5EF4-FFF2-40B4-BE49-F238E27FC236}">
                <a16:creationId xmlns:a16="http://schemas.microsoft.com/office/drawing/2014/main" id="{1F0CE863-9025-C015-7FBF-3B9ABD63AE0B}"/>
              </a:ext>
            </a:extLst>
          </p:cNvPr>
          <p:cNvSpPr txBox="1">
            <a:spLocks/>
          </p:cNvSpPr>
          <p:nvPr/>
        </p:nvSpPr>
        <p:spPr>
          <a:xfrm>
            <a:off x="6106326" y="5680739"/>
            <a:ext cx="1798017" cy="25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/>
              <a:t>04 Oct,  2025</a:t>
            </a:r>
          </a:p>
        </p:txBody>
      </p:sp>
      <p:pic>
        <p:nvPicPr>
          <p:cNvPr id="28" name="Picture 6" descr="Image result for Power apps logo">
            <a:extLst>
              <a:ext uri="{FF2B5EF4-FFF2-40B4-BE49-F238E27FC236}">
                <a16:creationId xmlns:a16="http://schemas.microsoft.com/office/drawing/2014/main" id="{19D2E6C3-9879-252E-44B3-74D151019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388" y="6599707"/>
            <a:ext cx="742563" cy="5398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Image result for Power BI logo">
            <a:extLst>
              <a:ext uri="{FF2B5EF4-FFF2-40B4-BE49-F238E27FC236}">
                <a16:creationId xmlns:a16="http://schemas.microsoft.com/office/drawing/2014/main" id="{BF08D320-C691-5843-E408-A433D4155B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5171" r="846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4" r="6644"/>
          <a:stretch/>
        </p:blipFill>
        <p:spPr bwMode="auto">
          <a:xfrm>
            <a:off x="3173919" y="6578581"/>
            <a:ext cx="477718" cy="5068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Image result for power virtual agents logo">
            <a:extLst>
              <a:ext uri="{FF2B5EF4-FFF2-40B4-BE49-F238E27FC236}">
                <a16:creationId xmlns:a16="http://schemas.microsoft.com/office/drawing/2014/main" id="{6ADCF6EC-73BD-31BD-5DB0-A62A76EE6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39" y="6533737"/>
            <a:ext cx="626538" cy="707972"/>
          </a:xfrm>
          <a:prstGeom prst="ellipse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Power BI Desktop Connecting to Dataverse - Hat Full of Data">
            <a:extLst>
              <a:ext uri="{FF2B5EF4-FFF2-40B4-BE49-F238E27FC236}">
                <a16:creationId xmlns:a16="http://schemas.microsoft.com/office/drawing/2014/main" id="{A04A0A85-A55E-8B3A-5ACA-940FBAED8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778" b="89778" l="2667" r="95556">
                        <a14:foregroundMark x1="90222" y1="48444" x2="90222" y2="48444"/>
                        <a14:foregroundMark x1="95556" y1="48444" x2="95556" y2="48444"/>
                        <a14:foregroundMark x1="6222" y1="59556" x2="6222" y2="59556"/>
                        <a14:foregroundMark x1="2667" y1="54667" x2="2667" y2="5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77" y="6583652"/>
            <a:ext cx="568427" cy="51267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FD8089D-3881-FE63-9AC3-7D6903C9015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9069" r="21546" b="8853"/>
          <a:stretch/>
        </p:blipFill>
        <p:spPr>
          <a:xfrm>
            <a:off x="2763760" y="6702921"/>
            <a:ext cx="412375" cy="34906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2D7EF3BF-9FC2-BE76-ED0F-9A204811840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825" y="6644992"/>
            <a:ext cx="459445" cy="459445"/>
          </a:xfrm>
          <a:prstGeom prst="rect">
            <a:avLst/>
          </a:prstGeom>
        </p:spPr>
      </p:pic>
      <p:pic>
        <p:nvPicPr>
          <p:cNvPr id="35" name="Picture 16" descr="Icon for Dynamics 365 Customer Service">
            <a:extLst>
              <a:ext uri="{FF2B5EF4-FFF2-40B4-BE49-F238E27FC236}">
                <a16:creationId xmlns:a16="http://schemas.microsoft.com/office/drawing/2014/main" id="{CB6B2CDC-32DB-8B22-81F9-E9A3AF275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158" y="6589020"/>
            <a:ext cx="699650" cy="54449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8" descr="Icon for Dynamics 365 Field Service">
            <a:extLst>
              <a:ext uri="{FF2B5EF4-FFF2-40B4-BE49-F238E27FC236}">
                <a16:creationId xmlns:a16="http://schemas.microsoft.com/office/drawing/2014/main" id="{6BB9EFE7-C7FB-0E55-1BD6-DF57AA157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999" y="6515329"/>
            <a:ext cx="658788" cy="6703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Icon for Dynamics 365 Sales">
            <a:extLst>
              <a:ext uri="{FF2B5EF4-FFF2-40B4-BE49-F238E27FC236}">
                <a16:creationId xmlns:a16="http://schemas.microsoft.com/office/drawing/2014/main" id="{B43358D4-3117-CE5F-FBF5-EA1C5CBE3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01" y="6509382"/>
            <a:ext cx="673425" cy="65084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4" descr="Icon for Dynamics 365 Marketing">
            <a:extLst>
              <a:ext uri="{FF2B5EF4-FFF2-40B4-BE49-F238E27FC236}">
                <a16:creationId xmlns:a16="http://schemas.microsoft.com/office/drawing/2014/main" id="{B941D08D-1906-F372-F414-CC8A6ECD1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07" y="6512471"/>
            <a:ext cx="658788" cy="66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Row(Record) Level Privileges in Dynamics 365/Power Platform – Ashish  Vishwakarma">
            <a:extLst>
              <a:ext uri="{FF2B5EF4-FFF2-40B4-BE49-F238E27FC236}">
                <a16:creationId xmlns:a16="http://schemas.microsoft.com/office/drawing/2014/main" id="{635751F0-B7F3-8AE9-E19F-91A339BA1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199" y="6549547"/>
            <a:ext cx="792966" cy="61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Power Pages - The ultimate user guide">
            <a:extLst>
              <a:ext uri="{FF2B5EF4-FFF2-40B4-BE49-F238E27FC236}">
                <a16:creationId xmlns:a16="http://schemas.microsoft.com/office/drawing/2014/main" id="{30C49293-5C95-797C-EA2B-C48364EA8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889" b="98667" l="889" r="96000">
                        <a14:foregroundMark x1="11111" y1="35111" x2="13333" y2="44000"/>
                        <a14:foregroundMark x1="8889" y1="32889" x2="14222" y2="45778"/>
                        <a14:foregroundMark x1="38667" y1="12000" x2="59556" y2="10222"/>
                        <a14:foregroundMark x1="43556" y1="8889" x2="56889" y2="6222"/>
                        <a14:foregroundMark x1="51111" y1="889" x2="54667" y2="4000"/>
                        <a14:foregroundMark x1="6667" y1="33778" x2="8000" y2="43556"/>
                        <a14:foregroundMark x1="4000" y1="36444" x2="5333" y2="41778"/>
                        <a14:foregroundMark x1="1333" y1="38222" x2="1333" y2="43111"/>
                        <a14:foregroundMark x1="88000" y1="56889" x2="82667" y2="69778"/>
                        <a14:foregroundMark x1="41778" y1="85333" x2="40444" y2="88444"/>
                        <a14:foregroundMark x1="40444" y1="88889" x2="40444" y2="88889"/>
                        <a14:foregroundMark x1="49778" y1="94667" x2="49778" y2="94667"/>
                        <a14:foregroundMark x1="49778" y1="94667" x2="49778" y2="94667"/>
                        <a14:foregroundMark x1="96444" y1="65778" x2="96444" y2="65778"/>
                        <a14:foregroundMark x1="96444" y1="65778" x2="96444" y2="65778"/>
                        <a14:foregroundMark x1="51111" y1="98667" x2="51111" y2="98667"/>
                        <a14:foregroundMark x1="51111" y1="98667" x2="51111" y2="9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0" y="6597253"/>
            <a:ext cx="469374" cy="4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 descr="Azure has a new logo, but where do you download it? Here!">
            <a:extLst>
              <a:ext uri="{FF2B5EF4-FFF2-40B4-BE49-F238E27FC236}">
                <a16:creationId xmlns:a16="http://schemas.microsoft.com/office/drawing/2014/main" id="{D11D93DF-23AC-1DB0-9F67-C3BE8D3FB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8889" b="89778" l="4889" r="92000">
                        <a14:foregroundMark x1="92444" y1="88889" x2="92444" y2="88889"/>
                        <a14:foregroundMark x1="8889" y1="88000" x2="8889" y2="88000"/>
                        <a14:foregroundMark x1="5333" y1="88889" x2="5333" y2="88889"/>
                        <a14:foregroundMark x1="40000" y1="8889" x2="40000" y2="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427" y="6644641"/>
            <a:ext cx="523814" cy="40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58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0.83933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6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D7EE7-E432-9184-A266-CE7C9C7B7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B928470-00FB-6D16-14D0-0DF84D1DFD66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9020" y="2154054"/>
            <a:ext cx="6614471" cy="3289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ertificate of Scholarship">
            <a:extLst>
              <a:ext uri="{FF2B5EF4-FFF2-40B4-BE49-F238E27FC236}">
                <a16:creationId xmlns:a16="http://schemas.microsoft.com/office/drawing/2014/main" id="{7FC61736-A91A-D7EB-37F0-53DA14B0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1675901"/>
            <a:ext cx="8675370" cy="595315"/>
          </a:xfrm>
        </p:spPr>
        <p:txBody>
          <a:bodyPr/>
          <a:lstStyle/>
          <a:p>
            <a:r>
              <a:rPr lang="en-US" dirty="0"/>
              <a:t>CERTIFICATE OF APPRECIATION</a:t>
            </a:r>
          </a:p>
        </p:txBody>
      </p:sp>
      <p:sp>
        <p:nvSpPr>
          <p:cNvPr id="5" name="This acknowledges that">
            <a:extLst>
              <a:ext uri="{FF2B5EF4-FFF2-40B4-BE49-F238E27FC236}">
                <a16:creationId xmlns:a16="http://schemas.microsoft.com/office/drawing/2014/main" id="{2C17B7D2-3C80-F9EB-45B0-712FB3F29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475" y="2618554"/>
            <a:ext cx="8671560" cy="417743"/>
          </a:xfrm>
        </p:spPr>
        <p:txBody>
          <a:bodyPr/>
          <a:lstStyle/>
          <a:p>
            <a:r>
              <a:rPr lang="en-US" dirty="0"/>
              <a:t>THIS ACKNOWLEDGES THAT</a:t>
            </a:r>
          </a:p>
        </p:txBody>
      </p:sp>
      <p:sp>
        <p:nvSpPr>
          <p:cNvPr id="6" name="Christian Lacombe">
            <a:extLst>
              <a:ext uri="{FF2B5EF4-FFF2-40B4-BE49-F238E27FC236}">
                <a16:creationId xmlns:a16="http://schemas.microsoft.com/office/drawing/2014/main" id="{2D0C1791-1214-ECE6-4C1D-A51D297AFA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2991260"/>
            <a:ext cx="8674100" cy="1118504"/>
          </a:xfrm>
        </p:spPr>
        <p:txBody>
          <a:bodyPr>
            <a:normAutofit/>
          </a:bodyPr>
          <a:lstStyle/>
          <a:p>
            <a:r>
              <a:rPr lang="en-US" dirty="0"/>
              <a:t>Mohammad Shafiuddin </a:t>
            </a:r>
          </a:p>
        </p:txBody>
      </p:sp>
      <p:sp>
        <p:nvSpPr>
          <p:cNvPr id="7" name="has been recognized for outstanding achievement">
            <a:extLst>
              <a:ext uri="{FF2B5EF4-FFF2-40B4-BE49-F238E27FC236}">
                <a16:creationId xmlns:a16="http://schemas.microsoft.com/office/drawing/2014/main" id="{802E7E9E-18A7-14F9-1F89-369D3C6CD5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6077" y="4186867"/>
            <a:ext cx="8672830" cy="522968"/>
          </a:xfrm>
        </p:spPr>
        <p:txBody>
          <a:bodyPr>
            <a:noAutofit/>
          </a:bodyPr>
          <a:lstStyle/>
          <a:p>
            <a:r>
              <a:rPr lang="en-US" sz="1800" dirty="0"/>
              <a:t>for delivering an inspiring and insightful session at </a:t>
            </a:r>
            <a:r>
              <a:rPr lang="en-US" sz="1800" b="1" dirty="0"/>
              <a:t>Power Platform Classmates 2025 – Dubai</a:t>
            </a:r>
            <a:r>
              <a:rPr lang="en-US" sz="1800" dirty="0"/>
              <a:t>.</a:t>
            </a:r>
          </a:p>
        </p:txBody>
      </p:sp>
      <p:sp>
        <p:nvSpPr>
          <p:cNvPr id="8" name="Reed Flores, Teacher">
            <a:extLst>
              <a:ext uri="{FF2B5EF4-FFF2-40B4-BE49-F238E27FC236}">
                <a16:creationId xmlns:a16="http://schemas.microsoft.com/office/drawing/2014/main" id="{4A8EDA09-4FA5-FD2D-9B22-60178E72559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4909" y="5414139"/>
            <a:ext cx="3607384" cy="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Organizers, </a:t>
            </a:r>
          </a:p>
          <a:p>
            <a:pPr marL="0" indent="0">
              <a:buNone/>
            </a:pPr>
            <a:r>
              <a:rPr lang="en-US" sz="1200" b="1" dirty="0"/>
              <a:t>Power Platform Classmates,</a:t>
            </a:r>
          </a:p>
          <a:p>
            <a:pPr marL="0" indent="0">
              <a:buNone/>
            </a:pPr>
            <a:r>
              <a:rPr lang="en-US" sz="1200" b="1" dirty="0"/>
              <a:t>BITS Pilani, Dubai</a:t>
            </a:r>
          </a:p>
        </p:txBody>
      </p:sp>
      <p:sp>
        <p:nvSpPr>
          <p:cNvPr id="2" name="AutoShape 2" descr="Badge Yellow Circle for Award Badge">
            <a:extLst>
              <a:ext uri="{FF2B5EF4-FFF2-40B4-BE49-F238E27FC236}">
                <a16:creationId xmlns:a16="http://schemas.microsoft.com/office/drawing/2014/main" id="{833575A9-A0D4-8382-EE11-6A2CA37EC5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DF520F-30F4-DC46-646E-4016D63BA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19" l="9903" r="91600">
                        <a14:foregroundMark x1="45712" y1="78318" x2="46508" y2="76449"/>
                        <a14:foregroundMark x1="66490" y1="77664" x2="55349" y2="74206"/>
                        <a14:foregroundMark x1="55349" y1="74206" x2="66225" y2="70467"/>
                        <a14:foregroundMark x1="66225" y1="70467" x2="63660" y2="79252"/>
                        <a14:foregroundMark x1="74978" y1="65327" x2="72679" y2="65327"/>
                        <a14:foregroundMark x1="74801" y1="57664" x2="74801" y2="57664"/>
                        <a14:foregroundMark x1="74978" y1="57477" x2="74978" y2="57477"/>
                        <a14:foregroundMark x1="74978" y1="57477" x2="74978" y2="57477"/>
                        <a14:foregroundMark x1="70380" y1="63458" x2="70380" y2="63458"/>
                        <a14:foregroundMark x1="70380" y1="63458" x2="70380" y2="63458"/>
                        <a14:foregroundMark x1="69761" y1="61028" x2="69761" y2="61028"/>
                        <a14:foregroundMark x1="69761" y1="61028" x2="69408" y2="60093"/>
                        <a14:foregroundMark x1="69408" y1="59720" x2="69408" y2="59720"/>
                        <a14:foregroundMark x1="69408" y1="59720" x2="69408" y2="59720"/>
                        <a14:foregroundMark x1="73386" y1="63458" x2="73386" y2="63458"/>
                        <a14:foregroundMark x1="79576" y1="62804" x2="79576" y2="62804"/>
                        <a14:foregroundMark x1="76835" y1="62243" x2="76304" y2="62150"/>
                        <a14:foregroundMark x1="73475" y1="60935" x2="72944" y2="60374"/>
                        <a14:foregroundMark x1="72944" y1="60374" x2="72944" y2="60374"/>
                        <a14:foregroundMark x1="75685" y1="58318" x2="75685" y2="58318"/>
                        <a14:foregroundMark x1="75685" y1="58318" x2="75685" y2="58318"/>
                        <a14:foregroundMark x1="70203" y1="57477" x2="70203" y2="57477"/>
                        <a14:foregroundMark x1="70203" y1="57477" x2="70203" y2="57477"/>
                        <a14:foregroundMark x1="66225" y1="63458" x2="66225" y2="63458"/>
                        <a14:foregroundMark x1="70027" y1="61869" x2="69673" y2="61682"/>
                        <a14:foregroundMark x1="66667" y1="62617" x2="66667" y2="62617"/>
                        <a14:foregroundMark x1="66667" y1="62617" x2="66667" y2="62617"/>
                        <a14:foregroundMark x1="68966" y1="63458" x2="68966" y2="63458"/>
                        <a14:foregroundMark x1="68966" y1="63458" x2="68966" y2="63458"/>
                        <a14:foregroundMark x1="70203" y1="67944" x2="70292" y2="67477"/>
                        <a14:foregroundMark x1="66225" y1="90467" x2="66225" y2="90467"/>
                        <a14:foregroundMark x1="66225" y1="90374" x2="66225" y2="90374"/>
                        <a14:foregroundMark x1="63926" y1="87009" x2="63926" y2="87009"/>
                        <a14:foregroundMark x1="63926" y1="87009" x2="63926" y2="87009"/>
                        <a14:foregroundMark x1="67109" y1="94019" x2="66313" y2="93832"/>
                        <a14:foregroundMark x1="65164" y1="93271" x2="65164" y2="93271"/>
                        <a14:foregroundMark x1="65517" y1="92523" x2="65959" y2="92523"/>
                        <a14:foregroundMark x1="68877" y1="91308" x2="68877" y2="91308"/>
                        <a14:foregroundMark x1="69231" y1="91308" x2="69231" y2="91308"/>
                        <a14:foregroundMark x1="65694" y1="88411" x2="65694" y2="88411"/>
                        <a14:foregroundMark x1="65340" y1="86729" x2="65340" y2="86729"/>
                        <a14:foregroundMark x1="65340" y1="86729" x2="65340" y2="86729"/>
                        <a14:foregroundMark x1="65340" y1="86729" x2="65340" y2="86729"/>
                        <a14:foregroundMark x1="63749" y1="85607" x2="63749" y2="85607"/>
                        <a14:foregroundMark x1="63749" y1="85607" x2="63749" y2="85607"/>
                        <a14:foregroundMark x1="64368" y1="88411" x2="64368" y2="88411"/>
                        <a14:foregroundMark x1="69408" y1="87664" x2="69408" y2="87664"/>
                        <a14:foregroundMark x1="69408" y1="87664" x2="69408" y2="87664"/>
                        <a14:foregroundMark x1="67109" y1="87196" x2="67109" y2="87196"/>
                        <a14:foregroundMark x1="64810" y1="88411" x2="64810" y2="88411"/>
                        <a14:foregroundMark x1="64810" y1="88411" x2="64810" y2="88411"/>
                        <a14:foregroundMark x1="65429" y1="88598" x2="65429" y2="88598"/>
                        <a14:foregroundMark x1="65517" y1="88598" x2="65517" y2="87477"/>
                        <a14:foregroundMark x1="65340" y1="85981" x2="65340" y2="85981"/>
                        <a14:foregroundMark x1="65340" y1="85981" x2="65340" y2="85981"/>
                        <a14:foregroundMark x1="63926" y1="88972" x2="63926" y2="88972"/>
                        <a14:foregroundMark x1="63660" y1="88224" x2="63660" y2="88224"/>
                        <a14:foregroundMark x1="38108" y1="77103" x2="38108" y2="77103"/>
                        <a14:foregroundMark x1="38108" y1="77103" x2="38108" y2="77103"/>
                        <a14:foregroundMark x1="47126" y1="81028" x2="36782" y2="74766"/>
                        <a14:foregroundMark x1="36782" y1="74766" x2="46684" y2="79813"/>
                        <a14:foregroundMark x1="46684" y1="79813" x2="46508" y2="81308"/>
                        <a14:foregroundMark x1="75508" y1="48037" x2="68789" y2="38411"/>
                        <a14:foregroundMark x1="68789" y1="38411" x2="75685" y2="47570"/>
                        <a14:foregroundMark x1="75685" y1="47570" x2="75950" y2="48972"/>
                        <a14:foregroundMark x1="61362" y1="34393" x2="61362" y2="34393"/>
                        <a14:foregroundMark x1="62069" y1="34579" x2="61450" y2="34860"/>
                        <a14:foregroundMark x1="43855" y1="34953" x2="43236" y2="35234"/>
                        <a14:foregroundMark x1="62865" y1="37103" x2="58090" y2="26355"/>
                        <a14:foregroundMark x1="58090" y1="26355" x2="64456" y2="35607"/>
                        <a14:foregroundMark x1="64456" y1="35607" x2="63042" y2="37009"/>
                        <a14:foregroundMark x1="52608" y1="30467" x2="52608" y2="30467"/>
                        <a14:foregroundMark x1="52608" y1="30467" x2="52608" y2="30467"/>
                        <a14:foregroundMark x1="43059" y1="36542" x2="40760" y2="37757"/>
                        <a14:foregroundMark x1="37224" y1="32804" x2="37224" y2="32804"/>
                        <a14:foregroundMark x1="37224" y1="32804" x2="37224" y2="32804"/>
                        <a14:foregroundMark x1="37224" y1="32804" x2="37224" y2="32804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39611" y1="37383" x2="47038" y2="26168"/>
                        <a14:foregroundMark x1="47038" y1="26168" x2="43324" y2="36168"/>
                        <a14:foregroundMark x1="41645" y1="26168" x2="41645" y2="26168"/>
                        <a14:foregroundMark x1="41645" y1="26168" x2="41645" y2="26168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37577" y1="25234" x2="37577" y2="25234"/>
                        <a14:foregroundMark x1="37577" y1="25234" x2="37577" y2="25234"/>
                        <a14:foregroundMark x1="37577" y1="25234" x2="37577" y2="25234"/>
                        <a14:foregroundMark x1="34925" y1="47944" x2="31477" y2="48879"/>
                        <a14:foregroundMark x1="32361" y1="68598" x2="31742" y2="55514"/>
                        <a14:foregroundMark x1="31742" y1="55514" x2="32449" y2="67477"/>
                        <a14:foregroundMark x1="32449" y1="67477" x2="31565" y2="68505"/>
                        <a14:foregroundMark x1="26172" y1="57757" x2="26172" y2="57757"/>
                        <a14:foregroundMark x1="26172" y1="57757" x2="26172" y2="57757"/>
                        <a14:foregroundMark x1="26172" y1="57757" x2="26172" y2="57757"/>
                        <a14:foregroundMark x1="48187" y1="25607" x2="48187" y2="25607"/>
                        <a14:foregroundMark x1="48187" y1="25607" x2="48187" y2="25607"/>
                        <a14:foregroundMark x1="48187" y1="25607" x2="48187" y2="25607"/>
                        <a14:foregroundMark x1="35013" y1="30187" x2="35013" y2="30187"/>
                        <a14:foregroundMark x1="35013" y1="30187" x2="35013" y2="30187"/>
                        <a14:foregroundMark x1="35102" y1="30374" x2="35102" y2="30374"/>
                        <a14:foregroundMark x1="35102" y1="30374" x2="35544" y2="30374"/>
                        <a14:foregroundMark x1="37843" y1="22804" x2="37843" y2="22804"/>
                        <a14:foregroundMark x1="37843" y1="22804" x2="37843" y2="22804"/>
                        <a14:foregroundMark x1="37666" y1="17757" x2="37666" y2="17757"/>
                        <a14:foregroundMark x1="37666" y1="17757" x2="37666" y2="17757"/>
                        <a14:foregroundMark x1="37666" y1="17757" x2="37666" y2="17757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68081" y1="12804" x2="68081" y2="12804"/>
                        <a14:foregroundMark x1="68081" y1="12804" x2="68081" y2="12804"/>
                        <a14:foregroundMark x1="65959" y1="12897" x2="65959" y2="12897"/>
                        <a14:foregroundMark x1="65959" y1="12897" x2="65959" y2="12897"/>
                        <a14:foregroundMark x1="65959" y1="12897" x2="65959" y2="12897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832" y1="65888" x2="89832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302" y2="68037"/>
                        <a14:foregroundMark x1="91600" y1="67757" x2="91600" y2="67757"/>
                        <a14:foregroundMark x1="91600" y1="67757" x2="91600" y2="67757"/>
                        <a14:foregroundMark x1="91600" y1="67757" x2="91600" y2="67757"/>
                        <a14:foregroundMark x1="80725" y1="62523" x2="80725" y2="62523"/>
                        <a14:foregroundMark x1="80725" y1="62523" x2="80725" y2="62523"/>
                        <a14:foregroundMark x1="80725" y1="62523" x2="80725" y2="62523"/>
                        <a14:foregroundMark x1="32361" y1="47477" x2="29885" y2="48037"/>
                        <a14:foregroundMark x1="10610" y1="36542" x2="10610" y2="36542"/>
                        <a14:foregroundMark x1="10610" y1="36542" x2="10610" y2="36542"/>
                        <a14:foregroundMark x1="10610" y1="36542" x2="10610" y2="36542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48453" y1="30748" x2="48453" y2="30748"/>
                        <a14:foregroundMark x1="48453" y1="30748" x2="48453" y2="30748"/>
                        <a14:foregroundMark x1="48453" y1="30748" x2="48453" y2="30748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8391" y1="38879" x2="18391" y2="38879"/>
                        <a14:foregroundMark x1="18391" y1="38879" x2="18391" y2="39252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64279" y1="26542" x2="64279" y2="26542"/>
                        <a14:foregroundMark x1="64279" y1="26542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5774" y1="70187" x2="75774" y2="70187"/>
                        <a14:foregroundMark x1="75774" y1="70187" x2="75774" y2="70187"/>
                        <a14:foregroundMark x1="75774" y1="70187" x2="75774" y2="70187"/>
                        <a14:foregroundMark x1="75774" y1="69159" x2="75774" y2="69159"/>
                        <a14:foregroundMark x1="75774" y1="69159" x2="75774" y2="69159"/>
                        <a14:foregroundMark x1="75774" y1="69159" x2="75774" y2="69159"/>
                        <a14:foregroundMark x1="78691" y1="65234" x2="78691" y2="65234"/>
                        <a14:foregroundMark x1="78691" y1="65234" x2="78691" y2="65234"/>
                        <a14:foregroundMark x1="44828" y1="23084" x2="44828" y2="23084"/>
                        <a14:foregroundMark x1="44828" y1="23084" x2="44828" y2="23084"/>
                        <a14:foregroundMark x1="44828" y1="23084" x2="44828" y2="23084"/>
                        <a14:foregroundMark x1="38373" y1="23645" x2="38373" y2="23645"/>
                        <a14:foregroundMark x1="38373" y1="23645" x2="38373" y2="23645"/>
                        <a14:foregroundMark x1="39788" y1="25327" x2="39788" y2="25327"/>
                        <a14:foregroundMark x1="39965" y1="23178" x2="39965" y2="23178"/>
                        <a14:foregroundMark x1="39965" y1="23178" x2="39965" y2="23178"/>
                        <a14:foregroundMark x1="36074" y1="18505" x2="36074" y2="18505"/>
                        <a14:foregroundMark x1="36074" y1="18505" x2="36074" y2="18505"/>
                        <a14:foregroundMark x1="36074" y1="18505" x2="36074" y2="18505"/>
                        <a14:foregroundMark x1="33864" y1="14299" x2="33864" y2="14299"/>
                        <a14:foregroundMark x1="33864" y1="14299" x2="33864" y2="14299"/>
                        <a14:foregroundMark x1="39611" y1="19720" x2="37577" y2="19252"/>
                        <a14:foregroundMark x1="64545" y1="19813" x2="63484" y2="20654"/>
                        <a14:foregroundMark x1="85853" y1="36449" x2="84881" y2="36729"/>
                        <a14:foregroundMark x1="85853" y1="41402" x2="86384" y2="40935"/>
                        <a14:foregroundMark x1="85500" y1="68598" x2="86030" y2="69439"/>
                        <a14:foregroundMark x1="85234" y1="70374" x2="84615" y2="69159"/>
                        <a14:foregroundMark x1="37312" y1="90374" x2="37224" y2="90093"/>
                        <a14:foregroundMark x1="37931" y1="88972" x2="38373" y2="88879"/>
                        <a14:foregroundMark x1="36074" y1="91028" x2="35897" y2="90374"/>
                        <a14:foregroundMark x1="33864" y1="88411" x2="36163" y2="89159"/>
                        <a14:foregroundMark x1="16092" y1="70467" x2="15208" y2="67664"/>
                        <a14:foregroundMark x1="15119" y1="70748" x2="15119" y2="70748"/>
                        <a14:foregroundMark x1="15119" y1="70748" x2="15119" y2="70748"/>
                        <a14:foregroundMark x1="17241" y1="70093" x2="17772" y2="68879"/>
                        <a14:foregroundMark x1="23607" y1="65607" x2="23607" y2="65607"/>
                        <a14:foregroundMark x1="23607" y1="65607" x2="23607" y2="65607"/>
                        <a14:foregroundMark x1="22370" y1="64673" x2="22370" y2="64673"/>
                        <a14:foregroundMark x1="18921" y1="40187" x2="15296" y2="38785"/>
                        <a14:backgroundMark x1="23165" y1="27570" x2="9991" y2="20280"/>
                        <a14:backgroundMark x1="9991" y1="20280" x2="5128" y2="7757"/>
                        <a14:backgroundMark x1="5128" y1="7757" x2="24050" y2="14860"/>
                        <a14:backgroundMark x1="24050" y1="14860" x2="22989" y2="27290"/>
                        <a14:backgroundMark x1="22989" y1="27290" x2="22193" y2="26822"/>
                        <a14:backgroundMark x1="27233" y1="28037" x2="10698" y2="21869"/>
                        <a14:backgroundMark x1="10698" y1="21869" x2="5217" y2="9346"/>
                        <a14:backgroundMark x1="5217" y1="9346" x2="17683" y2="9533"/>
                        <a14:backgroundMark x1="17683" y1="9533" x2="24492" y2="24766"/>
                        <a14:backgroundMark x1="24492" y1="24766" x2="26967" y2="275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3153" y="612169"/>
            <a:ext cx="1136107" cy="1074833"/>
          </a:xfrm>
          <a:prstGeom prst="rect">
            <a:avLst/>
          </a:prstGeom>
        </p:spPr>
      </p:pic>
      <p:sp>
        <p:nvSpPr>
          <p:cNvPr id="22" name="Reed Flores, Teacher">
            <a:extLst>
              <a:ext uri="{FF2B5EF4-FFF2-40B4-BE49-F238E27FC236}">
                <a16:creationId xmlns:a16="http://schemas.microsoft.com/office/drawing/2014/main" id="{CE1BAC42-DB2C-82D2-750D-25804C4E52E9}"/>
              </a:ext>
            </a:extLst>
          </p:cNvPr>
          <p:cNvSpPr txBox="1">
            <a:spLocks/>
          </p:cNvSpPr>
          <p:nvPr/>
        </p:nvSpPr>
        <p:spPr>
          <a:xfrm>
            <a:off x="6106326" y="5680739"/>
            <a:ext cx="1798017" cy="25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/>
              <a:t>04 Oct,  2025</a:t>
            </a:r>
          </a:p>
        </p:txBody>
      </p:sp>
      <p:pic>
        <p:nvPicPr>
          <p:cNvPr id="28" name="Picture 6" descr="Image result for Power apps logo">
            <a:extLst>
              <a:ext uri="{FF2B5EF4-FFF2-40B4-BE49-F238E27FC236}">
                <a16:creationId xmlns:a16="http://schemas.microsoft.com/office/drawing/2014/main" id="{2B8D481F-2E43-50D8-7ED1-A9834089E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388" y="6599707"/>
            <a:ext cx="742563" cy="5398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Image result for Power BI logo">
            <a:extLst>
              <a:ext uri="{FF2B5EF4-FFF2-40B4-BE49-F238E27FC236}">
                <a16:creationId xmlns:a16="http://schemas.microsoft.com/office/drawing/2014/main" id="{8E4E902D-BE3A-43F3-7CE9-1E2CC780F2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5171" r="846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4" r="6644"/>
          <a:stretch/>
        </p:blipFill>
        <p:spPr bwMode="auto">
          <a:xfrm>
            <a:off x="3173919" y="6578581"/>
            <a:ext cx="477718" cy="5068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Image result for power virtual agents logo">
            <a:extLst>
              <a:ext uri="{FF2B5EF4-FFF2-40B4-BE49-F238E27FC236}">
                <a16:creationId xmlns:a16="http://schemas.microsoft.com/office/drawing/2014/main" id="{B93E2192-5DB4-1F17-4B6C-2CDDD32D7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39" y="6533737"/>
            <a:ext cx="626538" cy="707972"/>
          </a:xfrm>
          <a:prstGeom prst="ellipse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Power BI Desktop Connecting to Dataverse - Hat Full of Data">
            <a:extLst>
              <a:ext uri="{FF2B5EF4-FFF2-40B4-BE49-F238E27FC236}">
                <a16:creationId xmlns:a16="http://schemas.microsoft.com/office/drawing/2014/main" id="{17A16B37-0FC6-EF6C-AB91-A3F1EBE61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778" b="89778" l="2667" r="95556">
                        <a14:foregroundMark x1="90222" y1="48444" x2="90222" y2="48444"/>
                        <a14:foregroundMark x1="95556" y1="48444" x2="95556" y2="48444"/>
                        <a14:foregroundMark x1="6222" y1="59556" x2="6222" y2="59556"/>
                        <a14:foregroundMark x1="2667" y1="54667" x2="2667" y2="5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77" y="6583652"/>
            <a:ext cx="568427" cy="51267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3991623-FB65-0EA0-264D-C54DF095520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9069" r="21546" b="8853"/>
          <a:stretch/>
        </p:blipFill>
        <p:spPr>
          <a:xfrm>
            <a:off x="2763760" y="6702921"/>
            <a:ext cx="412375" cy="34906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612E4C0-82F9-17D9-CF2A-2F819C7A80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825" y="6644992"/>
            <a:ext cx="459445" cy="459445"/>
          </a:xfrm>
          <a:prstGeom prst="rect">
            <a:avLst/>
          </a:prstGeom>
        </p:spPr>
      </p:pic>
      <p:pic>
        <p:nvPicPr>
          <p:cNvPr id="35" name="Picture 16" descr="Icon for Dynamics 365 Customer Service">
            <a:extLst>
              <a:ext uri="{FF2B5EF4-FFF2-40B4-BE49-F238E27FC236}">
                <a16:creationId xmlns:a16="http://schemas.microsoft.com/office/drawing/2014/main" id="{1DEE6BC2-66E4-E9AC-960C-C20F3A021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158" y="6589020"/>
            <a:ext cx="699650" cy="54449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8" descr="Icon for Dynamics 365 Field Service">
            <a:extLst>
              <a:ext uri="{FF2B5EF4-FFF2-40B4-BE49-F238E27FC236}">
                <a16:creationId xmlns:a16="http://schemas.microsoft.com/office/drawing/2014/main" id="{8C374800-A7F8-1226-4172-112DA27C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999" y="6515329"/>
            <a:ext cx="658788" cy="6703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Icon for Dynamics 365 Sales">
            <a:extLst>
              <a:ext uri="{FF2B5EF4-FFF2-40B4-BE49-F238E27FC236}">
                <a16:creationId xmlns:a16="http://schemas.microsoft.com/office/drawing/2014/main" id="{EA743659-1069-202F-143F-656A294FA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01" y="6509382"/>
            <a:ext cx="673425" cy="65084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4" descr="Icon for Dynamics 365 Marketing">
            <a:extLst>
              <a:ext uri="{FF2B5EF4-FFF2-40B4-BE49-F238E27FC236}">
                <a16:creationId xmlns:a16="http://schemas.microsoft.com/office/drawing/2014/main" id="{48DC09C9-3183-2CF0-1229-C04265DEB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07" y="6512471"/>
            <a:ext cx="658788" cy="66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Row(Record) Level Privileges in Dynamics 365/Power Platform – Ashish  Vishwakarma">
            <a:extLst>
              <a:ext uri="{FF2B5EF4-FFF2-40B4-BE49-F238E27FC236}">
                <a16:creationId xmlns:a16="http://schemas.microsoft.com/office/drawing/2014/main" id="{C3B78A8A-7D57-3B1C-E9A5-B50379278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199" y="6549547"/>
            <a:ext cx="792966" cy="61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Power Pages - The ultimate user guide">
            <a:extLst>
              <a:ext uri="{FF2B5EF4-FFF2-40B4-BE49-F238E27FC236}">
                <a16:creationId xmlns:a16="http://schemas.microsoft.com/office/drawing/2014/main" id="{48326C47-937A-A90A-9B93-8BF8270B9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889" b="98667" l="889" r="96000">
                        <a14:foregroundMark x1="11111" y1="35111" x2="13333" y2="44000"/>
                        <a14:foregroundMark x1="8889" y1="32889" x2="14222" y2="45778"/>
                        <a14:foregroundMark x1="38667" y1="12000" x2="59556" y2="10222"/>
                        <a14:foregroundMark x1="43556" y1="8889" x2="56889" y2="6222"/>
                        <a14:foregroundMark x1="51111" y1="889" x2="54667" y2="4000"/>
                        <a14:foregroundMark x1="6667" y1="33778" x2="8000" y2="43556"/>
                        <a14:foregroundMark x1="4000" y1="36444" x2="5333" y2="41778"/>
                        <a14:foregroundMark x1="1333" y1="38222" x2="1333" y2="43111"/>
                        <a14:foregroundMark x1="88000" y1="56889" x2="82667" y2="69778"/>
                        <a14:foregroundMark x1="41778" y1="85333" x2="40444" y2="88444"/>
                        <a14:foregroundMark x1="40444" y1="88889" x2="40444" y2="88889"/>
                        <a14:foregroundMark x1="49778" y1="94667" x2="49778" y2="94667"/>
                        <a14:foregroundMark x1="49778" y1="94667" x2="49778" y2="94667"/>
                        <a14:foregroundMark x1="96444" y1="65778" x2="96444" y2="65778"/>
                        <a14:foregroundMark x1="96444" y1="65778" x2="96444" y2="65778"/>
                        <a14:foregroundMark x1="51111" y1="98667" x2="51111" y2="98667"/>
                        <a14:foregroundMark x1="51111" y1="98667" x2="51111" y2="9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0" y="6597253"/>
            <a:ext cx="469374" cy="4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 descr="Azure has a new logo, but where do you download it? Here!">
            <a:extLst>
              <a:ext uri="{FF2B5EF4-FFF2-40B4-BE49-F238E27FC236}">
                <a16:creationId xmlns:a16="http://schemas.microsoft.com/office/drawing/2014/main" id="{DB720664-B908-376A-3B95-CC35FE160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8889" b="89778" l="4889" r="92000">
                        <a14:foregroundMark x1="92444" y1="88889" x2="92444" y2="88889"/>
                        <a14:foregroundMark x1="8889" y1="88000" x2="8889" y2="88000"/>
                        <a14:foregroundMark x1="5333" y1="88889" x2="5333" y2="88889"/>
                        <a14:foregroundMark x1="40000" y1="8889" x2="40000" y2="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427" y="6644641"/>
            <a:ext cx="523814" cy="40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69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0.83933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6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0087F-E747-9E92-6E46-ACE38D82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3DF0479-9CF6-5C7E-9DC1-14E45F9CD41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9020" y="2154054"/>
            <a:ext cx="6614471" cy="3289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ertificate of Scholarship">
            <a:extLst>
              <a:ext uri="{FF2B5EF4-FFF2-40B4-BE49-F238E27FC236}">
                <a16:creationId xmlns:a16="http://schemas.microsoft.com/office/drawing/2014/main" id="{8D3B3224-0A91-ACAA-01BE-3A085554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1675901"/>
            <a:ext cx="8675370" cy="595315"/>
          </a:xfrm>
        </p:spPr>
        <p:txBody>
          <a:bodyPr/>
          <a:lstStyle/>
          <a:p>
            <a:r>
              <a:rPr lang="en-US" dirty="0"/>
              <a:t>CERTIFICATE OF APPRECIATION</a:t>
            </a:r>
          </a:p>
        </p:txBody>
      </p:sp>
      <p:sp>
        <p:nvSpPr>
          <p:cNvPr id="5" name="This acknowledges that">
            <a:extLst>
              <a:ext uri="{FF2B5EF4-FFF2-40B4-BE49-F238E27FC236}">
                <a16:creationId xmlns:a16="http://schemas.microsoft.com/office/drawing/2014/main" id="{F2CF281F-A499-4B6B-1841-541709B261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475" y="2618554"/>
            <a:ext cx="8671560" cy="417743"/>
          </a:xfrm>
        </p:spPr>
        <p:txBody>
          <a:bodyPr/>
          <a:lstStyle/>
          <a:p>
            <a:r>
              <a:rPr lang="en-US" dirty="0"/>
              <a:t>THIS ACKNOWLEDGES THAT</a:t>
            </a:r>
          </a:p>
        </p:txBody>
      </p:sp>
      <p:sp>
        <p:nvSpPr>
          <p:cNvPr id="6" name="Christian Lacombe">
            <a:extLst>
              <a:ext uri="{FF2B5EF4-FFF2-40B4-BE49-F238E27FC236}">
                <a16:creationId xmlns:a16="http://schemas.microsoft.com/office/drawing/2014/main" id="{2AC2F51E-0BA7-3EC3-425A-B3EE141B52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2991260"/>
            <a:ext cx="8674100" cy="1118504"/>
          </a:xfrm>
        </p:spPr>
        <p:txBody>
          <a:bodyPr>
            <a:normAutofit/>
          </a:bodyPr>
          <a:lstStyle/>
          <a:p>
            <a:r>
              <a:rPr lang="en-US" dirty="0"/>
              <a:t>Venkatesh </a:t>
            </a:r>
            <a:r>
              <a:rPr lang="en-US" dirty="0" err="1"/>
              <a:t>Yellampalli</a:t>
            </a:r>
            <a:r>
              <a:rPr lang="en-US" dirty="0"/>
              <a:t> </a:t>
            </a:r>
          </a:p>
        </p:txBody>
      </p:sp>
      <p:sp>
        <p:nvSpPr>
          <p:cNvPr id="7" name="has been recognized for outstanding achievement">
            <a:extLst>
              <a:ext uri="{FF2B5EF4-FFF2-40B4-BE49-F238E27FC236}">
                <a16:creationId xmlns:a16="http://schemas.microsoft.com/office/drawing/2014/main" id="{0DB771FA-4BA7-2D28-8F1E-2B7F6E846E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6077" y="4186867"/>
            <a:ext cx="8672830" cy="522968"/>
          </a:xfrm>
        </p:spPr>
        <p:txBody>
          <a:bodyPr>
            <a:noAutofit/>
          </a:bodyPr>
          <a:lstStyle/>
          <a:p>
            <a:r>
              <a:rPr lang="en-US" sz="1800" dirty="0"/>
              <a:t>for delivering an inspiring and insightful session at </a:t>
            </a:r>
            <a:r>
              <a:rPr lang="en-US" sz="1800" b="1" dirty="0"/>
              <a:t>Power Platform Classmates 2025 – Dubai</a:t>
            </a:r>
            <a:r>
              <a:rPr lang="en-US" sz="1800" dirty="0"/>
              <a:t>.</a:t>
            </a:r>
          </a:p>
        </p:txBody>
      </p:sp>
      <p:sp>
        <p:nvSpPr>
          <p:cNvPr id="8" name="Reed Flores, Teacher">
            <a:extLst>
              <a:ext uri="{FF2B5EF4-FFF2-40B4-BE49-F238E27FC236}">
                <a16:creationId xmlns:a16="http://schemas.microsoft.com/office/drawing/2014/main" id="{1A4BB80F-676A-2DDA-2EC1-EE2509DDE9D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4909" y="5414139"/>
            <a:ext cx="3607384" cy="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Organizers, </a:t>
            </a:r>
          </a:p>
          <a:p>
            <a:pPr marL="0" indent="0">
              <a:buNone/>
            </a:pPr>
            <a:r>
              <a:rPr lang="en-US" sz="1200" b="1" dirty="0"/>
              <a:t>Power Platform Classmates,</a:t>
            </a:r>
          </a:p>
          <a:p>
            <a:pPr marL="0" indent="0">
              <a:buNone/>
            </a:pPr>
            <a:r>
              <a:rPr lang="en-US" sz="1200" b="1" dirty="0"/>
              <a:t>BITS Pilani, Dubai</a:t>
            </a:r>
          </a:p>
        </p:txBody>
      </p:sp>
      <p:sp>
        <p:nvSpPr>
          <p:cNvPr id="2" name="AutoShape 2" descr="Badge Yellow Circle for Award Badge">
            <a:extLst>
              <a:ext uri="{FF2B5EF4-FFF2-40B4-BE49-F238E27FC236}">
                <a16:creationId xmlns:a16="http://schemas.microsoft.com/office/drawing/2014/main" id="{5E8659C9-ECF2-0641-4876-96113813D7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E56953-DEDF-646B-C12F-1281B58AA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19" l="9903" r="91600">
                        <a14:foregroundMark x1="45712" y1="78318" x2="46508" y2="76449"/>
                        <a14:foregroundMark x1="66490" y1="77664" x2="55349" y2="74206"/>
                        <a14:foregroundMark x1="55349" y1="74206" x2="66225" y2="70467"/>
                        <a14:foregroundMark x1="66225" y1="70467" x2="63660" y2="79252"/>
                        <a14:foregroundMark x1="74978" y1="65327" x2="72679" y2="65327"/>
                        <a14:foregroundMark x1="74801" y1="57664" x2="74801" y2="57664"/>
                        <a14:foregroundMark x1="74978" y1="57477" x2="74978" y2="57477"/>
                        <a14:foregroundMark x1="74978" y1="57477" x2="74978" y2="57477"/>
                        <a14:foregroundMark x1="70380" y1="63458" x2="70380" y2="63458"/>
                        <a14:foregroundMark x1="70380" y1="63458" x2="70380" y2="63458"/>
                        <a14:foregroundMark x1="69761" y1="61028" x2="69761" y2="61028"/>
                        <a14:foregroundMark x1="69761" y1="61028" x2="69408" y2="60093"/>
                        <a14:foregroundMark x1="69408" y1="59720" x2="69408" y2="59720"/>
                        <a14:foregroundMark x1="69408" y1="59720" x2="69408" y2="59720"/>
                        <a14:foregroundMark x1="73386" y1="63458" x2="73386" y2="63458"/>
                        <a14:foregroundMark x1="79576" y1="62804" x2="79576" y2="62804"/>
                        <a14:foregroundMark x1="76835" y1="62243" x2="76304" y2="62150"/>
                        <a14:foregroundMark x1="73475" y1="60935" x2="72944" y2="60374"/>
                        <a14:foregroundMark x1="72944" y1="60374" x2="72944" y2="60374"/>
                        <a14:foregroundMark x1="75685" y1="58318" x2="75685" y2="58318"/>
                        <a14:foregroundMark x1="75685" y1="58318" x2="75685" y2="58318"/>
                        <a14:foregroundMark x1="70203" y1="57477" x2="70203" y2="57477"/>
                        <a14:foregroundMark x1="70203" y1="57477" x2="70203" y2="57477"/>
                        <a14:foregroundMark x1="66225" y1="63458" x2="66225" y2="63458"/>
                        <a14:foregroundMark x1="70027" y1="61869" x2="69673" y2="61682"/>
                        <a14:foregroundMark x1="66667" y1="62617" x2="66667" y2="62617"/>
                        <a14:foregroundMark x1="66667" y1="62617" x2="66667" y2="62617"/>
                        <a14:foregroundMark x1="68966" y1="63458" x2="68966" y2="63458"/>
                        <a14:foregroundMark x1="68966" y1="63458" x2="68966" y2="63458"/>
                        <a14:foregroundMark x1="70203" y1="67944" x2="70292" y2="67477"/>
                        <a14:foregroundMark x1="66225" y1="90467" x2="66225" y2="90467"/>
                        <a14:foregroundMark x1="66225" y1="90374" x2="66225" y2="90374"/>
                        <a14:foregroundMark x1="63926" y1="87009" x2="63926" y2="87009"/>
                        <a14:foregroundMark x1="63926" y1="87009" x2="63926" y2="87009"/>
                        <a14:foregroundMark x1="67109" y1="94019" x2="66313" y2="93832"/>
                        <a14:foregroundMark x1="65164" y1="93271" x2="65164" y2="93271"/>
                        <a14:foregroundMark x1="65517" y1="92523" x2="65959" y2="92523"/>
                        <a14:foregroundMark x1="68877" y1="91308" x2="68877" y2="91308"/>
                        <a14:foregroundMark x1="69231" y1="91308" x2="69231" y2="91308"/>
                        <a14:foregroundMark x1="65694" y1="88411" x2="65694" y2="88411"/>
                        <a14:foregroundMark x1="65340" y1="86729" x2="65340" y2="86729"/>
                        <a14:foregroundMark x1="65340" y1="86729" x2="65340" y2="86729"/>
                        <a14:foregroundMark x1="65340" y1="86729" x2="65340" y2="86729"/>
                        <a14:foregroundMark x1="63749" y1="85607" x2="63749" y2="85607"/>
                        <a14:foregroundMark x1="63749" y1="85607" x2="63749" y2="85607"/>
                        <a14:foregroundMark x1="64368" y1="88411" x2="64368" y2="88411"/>
                        <a14:foregroundMark x1="69408" y1="87664" x2="69408" y2="87664"/>
                        <a14:foregroundMark x1="69408" y1="87664" x2="69408" y2="87664"/>
                        <a14:foregroundMark x1="67109" y1="87196" x2="67109" y2="87196"/>
                        <a14:foregroundMark x1="64810" y1="88411" x2="64810" y2="88411"/>
                        <a14:foregroundMark x1="64810" y1="88411" x2="64810" y2="88411"/>
                        <a14:foregroundMark x1="65429" y1="88598" x2="65429" y2="88598"/>
                        <a14:foregroundMark x1="65517" y1="88598" x2="65517" y2="87477"/>
                        <a14:foregroundMark x1="65340" y1="85981" x2="65340" y2="85981"/>
                        <a14:foregroundMark x1="65340" y1="85981" x2="65340" y2="85981"/>
                        <a14:foregroundMark x1="63926" y1="88972" x2="63926" y2="88972"/>
                        <a14:foregroundMark x1="63660" y1="88224" x2="63660" y2="88224"/>
                        <a14:foregroundMark x1="38108" y1="77103" x2="38108" y2="77103"/>
                        <a14:foregroundMark x1="38108" y1="77103" x2="38108" y2="77103"/>
                        <a14:foregroundMark x1="47126" y1="81028" x2="36782" y2="74766"/>
                        <a14:foregroundMark x1="36782" y1="74766" x2="46684" y2="79813"/>
                        <a14:foregroundMark x1="46684" y1="79813" x2="46508" y2="81308"/>
                        <a14:foregroundMark x1="75508" y1="48037" x2="68789" y2="38411"/>
                        <a14:foregroundMark x1="68789" y1="38411" x2="75685" y2="47570"/>
                        <a14:foregroundMark x1="75685" y1="47570" x2="75950" y2="48972"/>
                        <a14:foregroundMark x1="61362" y1="34393" x2="61362" y2="34393"/>
                        <a14:foregroundMark x1="62069" y1="34579" x2="61450" y2="34860"/>
                        <a14:foregroundMark x1="43855" y1="34953" x2="43236" y2="35234"/>
                        <a14:foregroundMark x1="62865" y1="37103" x2="58090" y2="26355"/>
                        <a14:foregroundMark x1="58090" y1="26355" x2="64456" y2="35607"/>
                        <a14:foregroundMark x1="64456" y1="35607" x2="63042" y2="37009"/>
                        <a14:foregroundMark x1="52608" y1="30467" x2="52608" y2="30467"/>
                        <a14:foregroundMark x1="52608" y1="30467" x2="52608" y2="30467"/>
                        <a14:foregroundMark x1="43059" y1="36542" x2="40760" y2="37757"/>
                        <a14:foregroundMark x1="37224" y1="32804" x2="37224" y2="32804"/>
                        <a14:foregroundMark x1="37224" y1="32804" x2="37224" y2="32804"/>
                        <a14:foregroundMark x1="37224" y1="32804" x2="37224" y2="32804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39611" y1="37383" x2="47038" y2="26168"/>
                        <a14:foregroundMark x1="47038" y1="26168" x2="43324" y2="36168"/>
                        <a14:foregroundMark x1="41645" y1="26168" x2="41645" y2="26168"/>
                        <a14:foregroundMark x1="41645" y1="26168" x2="41645" y2="26168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37577" y1="25234" x2="37577" y2="25234"/>
                        <a14:foregroundMark x1="37577" y1="25234" x2="37577" y2="25234"/>
                        <a14:foregroundMark x1="37577" y1="25234" x2="37577" y2="25234"/>
                        <a14:foregroundMark x1="34925" y1="47944" x2="31477" y2="48879"/>
                        <a14:foregroundMark x1="32361" y1="68598" x2="31742" y2="55514"/>
                        <a14:foregroundMark x1="31742" y1="55514" x2="32449" y2="67477"/>
                        <a14:foregroundMark x1="32449" y1="67477" x2="31565" y2="68505"/>
                        <a14:foregroundMark x1="26172" y1="57757" x2="26172" y2="57757"/>
                        <a14:foregroundMark x1="26172" y1="57757" x2="26172" y2="57757"/>
                        <a14:foregroundMark x1="26172" y1="57757" x2="26172" y2="57757"/>
                        <a14:foregroundMark x1="48187" y1="25607" x2="48187" y2="25607"/>
                        <a14:foregroundMark x1="48187" y1="25607" x2="48187" y2="25607"/>
                        <a14:foregroundMark x1="48187" y1="25607" x2="48187" y2="25607"/>
                        <a14:foregroundMark x1="35013" y1="30187" x2="35013" y2="30187"/>
                        <a14:foregroundMark x1="35013" y1="30187" x2="35013" y2="30187"/>
                        <a14:foregroundMark x1="35102" y1="30374" x2="35102" y2="30374"/>
                        <a14:foregroundMark x1="35102" y1="30374" x2="35544" y2="30374"/>
                        <a14:foregroundMark x1="37843" y1="22804" x2="37843" y2="22804"/>
                        <a14:foregroundMark x1="37843" y1="22804" x2="37843" y2="22804"/>
                        <a14:foregroundMark x1="37666" y1="17757" x2="37666" y2="17757"/>
                        <a14:foregroundMark x1="37666" y1="17757" x2="37666" y2="17757"/>
                        <a14:foregroundMark x1="37666" y1="17757" x2="37666" y2="17757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68081" y1="12804" x2="68081" y2="12804"/>
                        <a14:foregroundMark x1="68081" y1="12804" x2="68081" y2="12804"/>
                        <a14:foregroundMark x1="65959" y1="12897" x2="65959" y2="12897"/>
                        <a14:foregroundMark x1="65959" y1="12897" x2="65959" y2="12897"/>
                        <a14:foregroundMark x1="65959" y1="12897" x2="65959" y2="12897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832" y1="65888" x2="89832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302" y2="68037"/>
                        <a14:foregroundMark x1="91600" y1="67757" x2="91600" y2="67757"/>
                        <a14:foregroundMark x1="91600" y1="67757" x2="91600" y2="67757"/>
                        <a14:foregroundMark x1="91600" y1="67757" x2="91600" y2="67757"/>
                        <a14:foregroundMark x1="80725" y1="62523" x2="80725" y2="62523"/>
                        <a14:foregroundMark x1="80725" y1="62523" x2="80725" y2="62523"/>
                        <a14:foregroundMark x1="80725" y1="62523" x2="80725" y2="62523"/>
                        <a14:foregroundMark x1="32361" y1="47477" x2="29885" y2="48037"/>
                        <a14:foregroundMark x1="10610" y1="36542" x2="10610" y2="36542"/>
                        <a14:foregroundMark x1="10610" y1="36542" x2="10610" y2="36542"/>
                        <a14:foregroundMark x1="10610" y1="36542" x2="10610" y2="36542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48453" y1="30748" x2="48453" y2="30748"/>
                        <a14:foregroundMark x1="48453" y1="30748" x2="48453" y2="30748"/>
                        <a14:foregroundMark x1="48453" y1="30748" x2="48453" y2="30748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8391" y1="38879" x2="18391" y2="38879"/>
                        <a14:foregroundMark x1="18391" y1="38879" x2="18391" y2="39252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64279" y1="26542" x2="64279" y2="26542"/>
                        <a14:foregroundMark x1="64279" y1="26542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5774" y1="70187" x2="75774" y2="70187"/>
                        <a14:foregroundMark x1="75774" y1="70187" x2="75774" y2="70187"/>
                        <a14:foregroundMark x1="75774" y1="70187" x2="75774" y2="70187"/>
                        <a14:foregroundMark x1="75774" y1="69159" x2="75774" y2="69159"/>
                        <a14:foregroundMark x1="75774" y1="69159" x2="75774" y2="69159"/>
                        <a14:foregroundMark x1="75774" y1="69159" x2="75774" y2="69159"/>
                        <a14:foregroundMark x1="78691" y1="65234" x2="78691" y2="65234"/>
                        <a14:foregroundMark x1="78691" y1="65234" x2="78691" y2="65234"/>
                        <a14:foregroundMark x1="44828" y1="23084" x2="44828" y2="23084"/>
                        <a14:foregroundMark x1="44828" y1="23084" x2="44828" y2="23084"/>
                        <a14:foregroundMark x1="44828" y1="23084" x2="44828" y2="23084"/>
                        <a14:foregroundMark x1="38373" y1="23645" x2="38373" y2="23645"/>
                        <a14:foregroundMark x1="38373" y1="23645" x2="38373" y2="23645"/>
                        <a14:foregroundMark x1="39788" y1="25327" x2="39788" y2="25327"/>
                        <a14:foregroundMark x1="39965" y1="23178" x2="39965" y2="23178"/>
                        <a14:foregroundMark x1="39965" y1="23178" x2="39965" y2="23178"/>
                        <a14:foregroundMark x1="36074" y1="18505" x2="36074" y2="18505"/>
                        <a14:foregroundMark x1="36074" y1="18505" x2="36074" y2="18505"/>
                        <a14:foregroundMark x1="36074" y1="18505" x2="36074" y2="18505"/>
                        <a14:foregroundMark x1="33864" y1="14299" x2="33864" y2="14299"/>
                        <a14:foregroundMark x1="33864" y1="14299" x2="33864" y2="14299"/>
                        <a14:foregroundMark x1="39611" y1="19720" x2="37577" y2="19252"/>
                        <a14:foregroundMark x1="64545" y1="19813" x2="63484" y2="20654"/>
                        <a14:foregroundMark x1="85853" y1="36449" x2="84881" y2="36729"/>
                        <a14:foregroundMark x1="85853" y1="41402" x2="86384" y2="40935"/>
                        <a14:foregroundMark x1="85500" y1="68598" x2="86030" y2="69439"/>
                        <a14:foregroundMark x1="85234" y1="70374" x2="84615" y2="69159"/>
                        <a14:foregroundMark x1="37312" y1="90374" x2="37224" y2="90093"/>
                        <a14:foregroundMark x1="37931" y1="88972" x2="38373" y2="88879"/>
                        <a14:foregroundMark x1="36074" y1="91028" x2="35897" y2="90374"/>
                        <a14:foregroundMark x1="33864" y1="88411" x2="36163" y2="89159"/>
                        <a14:foregroundMark x1="16092" y1="70467" x2="15208" y2="67664"/>
                        <a14:foregroundMark x1="15119" y1="70748" x2="15119" y2="70748"/>
                        <a14:foregroundMark x1="15119" y1="70748" x2="15119" y2="70748"/>
                        <a14:foregroundMark x1="17241" y1="70093" x2="17772" y2="68879"/>
                        <a14:foregroundMark x1="23607" y1="65607" x2="23607" y2="65607"/>
                        <a14:foregroundMark x1="23607" y1="65607" x2="23607" y2="65607"/>
                        <a14:foregroundMark x1="22370" y1="64673" x2="22370" y2="64673"/>
                        <a14:foregroundMark x1="18921" y1="40187" x2="15296" y2="38785"/>
                        <a14:backgroundMark x1="23165" y1="27570" x2="9991" y2="20280"/>
                        <a14:backgroundMark x1="9991" y1="20280" x2="5128" y2="7757"/>
                        <a14:backgroundMark x1="5128" y1="7757" x2="24050" y2="14860"/>
                        <a14:backgroundMark x1="24050" y1="14860" x2="22989" y2="27290"/>
                        <a14:backgroundMark x1="22989" y1="27290" x2="22193" y2="26822"/>
                        <a14:backgroundMark x1="27233" y1="28037" x2="10698" y2="21869"/>
                        <a14:backgroundMark x1="10698" y1="21869" x2="5217" y2="9346"/>
                        <a14:backgroundMark x1="5217" y1="9346" x2="17683" y2="9533"/>
                        <a14:backgroundMark x1="17683" y1="9533" x2="24492" y2="24766"/>
                        <a14:backgroundMark x1="24492" y1="24766" x2="26967" y2="275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3153" y="612169"/>
            <a:ext cx="1136107" cy="1074833"/>
          </a:xfrm>
          <a:prstGeom prst="rect">
            <a:avLst/>
          </a:prstGeom>
        </p:spPr>
      </p:pic>
      <p:sp>
        <p:nvSpPr>
          <p:cNvPr id="22" name="Reed Flores, Teacher">
            <a:extLst>
              <a:ext uri="{FF2B5EF4-FFF2-40B4-BE49-F238E27FC236}">
                <a16:creationId xmlns:a16="http://schemas.microsoft.com/office/drawing/2014/main" id="{D97917F5-74FA-F894-0078-4CC110F4106A}"/>
              </a:ext>
            </a:extLst>
          </p:cNvPr>
          <p:cNvSpPr txBox="1">
            <a:spLocks/>
          </p:cNvSpPr>
          <p:nvPr/>
        </p:nvSpPr>
        <p:spPr>
          <a:xfrm>
            <a:off x="6106326" y="5680739"/>
            <a:ext cx="1798017" cy="25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/>
              <a:t>04 Oct,  2025</a:t>
            </a:r>
          </a:p>
        </p:txBody>
      </p:sp>
      <p:pic>
        <p:nvPicPr>
          <p:cNvPr id="28" name="Picture 6" descr="Image result for Power apps logo">
            <a:extLst>
              <a:ext uri="{FF2B5EF4-FFF2-40B4-BE49-F238E27FC236}">
                <a16:creationId xmlns:a16="http://schemas.microsoft.com/office/drawing/2014/main" id="{3E71C79A-82C3-6212-5670-677921024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388" y="6599707"/>
            <a:ext cx="742563" cy="5398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Image result for Power BI logo">
            <a:extLst>
              <a:ext uri="{FF2B5EF4-FFF2-40B4-BE49-F238E27FC236}">
                <a16:creationId xmlns:a16="http://schemas.microsoft.com/office/drawing/2014/main" id="{A1863317-C39B-D3EF-8994-E0F4F3F3FD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5171" r="846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4" r="6644"/>
          <a:stretch/>
        </p:blipFill>
        <p:spPr bwMode="auto">
          <a:xfrm>
            <a:off x="3173919" y="6578581"/>
            <a:ext cx="477718" cy="5068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Image result for power virtual agents logo">
            <a:extLst>
              <a:ext uri="{FF2B5EF4-FFF2-40B4-BE49-F238E27FC236}">
                <a16:creationId xmlns:a16="http://schemas.microsoft.com/office/drawing/2014/main" id="{EA26187A-E9A2-E9A6-5FE2-0291BFFFD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39" y="6533737"/>
            <a:ext cx="626538" cy="707972"/>
          </a:xfrm>
          <a:prstGeom prst="ellipse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Power BI Desktop Connecting to Dataverse - Hat Full of Data">
            <a:extLst>
              <a:ext uri="{FF2B5EF4-FFF2-40B4-BE49-F238E27FC236}">
                <a16:creationId xmlns:a16="http://schemas.microsoft.com/office/drawing/2014/main" id="{35CBAABF-46D1-0950-BF01-5C571EDC9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778" b="89778" l="2667" r="95556">
                        <a14:foregroundMark x1="90222" y1="48444" x2="90222" y2="48444"/>
                        <a14:foregroundMark x1="95556" y1="48444" x2="95556" y2="48444"/>
                        <a14:foregroundMark x1="6222" y1="59556" x2="6222" y2="59556"/>
                        <a14:foregroundMark x1="2667" y1="54667" x2="2667" y2="5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77" y="6583652"/>
            <a:ext cx="568427" cy="51267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3557DAB-550C-27B2-D2AE-49CBDF1CB118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9069" r="21546" b="8853"/>
          <a:stretch/>
        </p:blipFill>
        <p:spPr>
          <a:xfrm>
            <a:off x="2763760" y="6702921"/>
            <a:ext cx="412375" cy="34906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47AAB61-6AC0-EC88-8DBC-6CCA93F11CC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825" y="6644992"/>
            <a:ext cx="459445" cy="459445"/>
          </a:xfrm>
          <a:prstGeom prst="rect">
            <a:avLst/>
          </a:prstGeom>
        </p:spPr>
      </p:pic>
      <p:pic>
        <p:nvPicPr>
          <p:cNvPr id="35" name="Picture 16" descr="Icon for Dynamics 365 Customer Service">
            <a:extLst>
              <a:ext uri="{FF2B5EF4-FFF2-40B4-BE49-F238E27FC236}">
                <a16:creationId xmlns:a16="http://schemas.microsoft.com/office/drawing/2014/main" id="{17D31214-2CD7-F3DC-16C6-FD0514B21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158" y="6589020"/>
            <a:ext cx="699650" cy="54449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8" descr="Icon for Dynamics 365 Field Service">
            <a:extLst>
              <a:ext uri="{FF2B5EF4-FFF2-40B4-BE49-F238E27FC236}">
                <a16:creationId xmlns:a16="http://schemas.microsoft.com/office/drawing/2014/main" id="{A6B38AE7-6B91-7A3B-4D9C-1FDC3A93B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999" y="6515329"/>
            <a:ext cx="658788" cy="6703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Icon for Dynamics 365 Sales">
            <a:extLst>
              <a:ext uri="{FF2B5EF4-FFF2-40B4-BE49-F238E27FC236}">
                <a16:creationId xmlns:a16="http://schemas.microsoft.com/office/drawing/2014/main" id="{1957A299-3204-BEF3-5D3A-09F1610E1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01" y="6509382"/>
            <a:ext cx="673425" cy="65084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4" descr="Icon for Dynamics 365 Marketing">
            <a:extLst>
              <a:ext uri="{FF2B5EF4-FFF2-40B4-BE49-F238E27FC236}">
                <a16:creationId xmlns:a16="http://schemas.microsoft.com/office/drawing/2014/main" id="{510C460A-CA48-D9DA-470A-1322A4ED5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07" y="6512471"/>
            <a:ext cx="658788" cy="66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Row(Record) Level Privileges in Dynamics 365/Power Platform – Ashish  Vishwakarma">
            <a:extLst>
              <a:ext uri="{FF2B5EF4-FFF2-40B4-BE49-F238E27FC236}">
                <a16:creationId xmlns:a16="http://schemas.microsoft.com/office/drawing/2014/main" id="{0CD04A24-087F-48E4-BABD-ACBDD78BD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199" y="6549547"/>
            <a:ext cx="792966" cy="61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Power Pages - The ultimate user guide">
            <a:extLst>
              <a:ext uri="{FF2B5EF4-FFF2-40B4-BE49-F238E27FC236}">
                <a16:creationId xmlns:a16="http://schemas.microsoft.com/office/drawing/2014/main" id="{2CCFA7D3-6337-5B72-3876-57FC9AB6D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889" b="98667" l="889" r="96000">
                        <a14:foregroundMark x1="11111" y1="35111" x2="13333" y2="44000"/>
                        <a14:foregroundMark x1="8889" y1="32889" x2="14222" y2="45778"/>
                        <a14:foregroundMark x1="38667" y1="12000" x2="59556" y2="10222"/>
                        <a14:foregroundMark x1="43556" y1="8889" x2="56889" y2="6222"/>
                        <a14:foregroundMark x1="51111" y1="889" x2="54667" y2="4000"/>
                        <a14:foregroundMark x1="6667" y1="33778" x2="8000" y2="43556"/>
                        <a14:foregroundMark x1="4000" y1="36444" x2="5333" y2="41778"/>
                        <a14:foregroundMark x1="1333" y1="38222" x2="1333" y2="43111"/>
                        <a14:foregroundMark x1="88000" y1="56889" x2="82667" y2="69778"/>
                        <a14:foregroundMark x1="41778" y1="85333" x2="40444" y2="88444"/>
                        <a14:foregroundMark x1="40444" y1="88889" x2="40444" y2="88889"/>
                        <a14:foregroundMark x1="49778" y1="94667" x2="49778" y2="94667"/>
                        <a14:foregroundMark x1="49778" y1="94667" x2="49778" y2="94667"/>
                        <a14:foregroundMark x1="96444" y1="65778" x2="96444" y2="65778"/>
                        <a14:foregroundMark x1="96444" y1="65778" x2="96444" y2="65778"/>
                        <a14:foregroundMark x1="51111" y1="98667" x2="51111" y2="98667"/>
                        <a14:foregroundMark x1="51111" y1="98667" x2="51111" y2="9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0" y="6597253"/>
            <a:ext cx="469374" cy="4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 descr="Azure has a new logo, but where do you download it? Here!">
            <a:extLst>
              <a:ext uri="{FF2B5EF4-FFF2-40B4-BE49-F238E27FC236}">
                <a16:creationId xmlns:a16="http://schemas.microsoft.com/office/drawing/2014/main" id="{A8EC998F-8B81-0866-60E4-B517D0519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8889" b="89778" l="4889" r="92000">
                        <a14:foregroundMark x1="92444" y1="88889" x2="92444" y2="88889"/>
                        <a14:foregroundMark x1="8889" y1="88000" x2="8889" y2="88000"/>
                        <a14:foregroundMark x1="5333" y1="88889" x2="5333" y2="88889"/>
                        <a14:foregroundMark x1="40000" y1="8889" x2="40000" y2="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427" y="6644641"/>
            <a:ext cx="523814" cy="40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90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0.83933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6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F3CE7-FC01-8FC5-136E-8D708223E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197C870-CD64-863E-AA95-514672B73B7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9020" y="2154054"/>
            <a:ext cx="6614471" cy="3289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ertificate of Scholarship">
            <a:extLst>
              <a:ext uri="{FF2B5EF4-FFF2-40B4-BE49-F238E27FC236}">
                <a16:creationId xmlns:a16="http://schemas.microsoft.com/office/drawing/2014/main" id="{31C92E2B-23D0-64EE-E5E0-673A0F9F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1675901"/>
            <a:ext cx="8675370" cy="595315"/>
          </a:xfrm>
        </p:spPr>
        <p:txBody>
          <a:bodyPr/>
          <a:lstStyle/>
          <a:p>
            <a:r>
              <a:rPr lang="en-US" dirty="0"/>
              <a:t>CERTIFICATE OF APPRECIATION</a:t>
            </a:r>
          </a:p>
        </p:txBody>
      </p:sp>
      <p:sp>
        <p:nvSpPr>
          <p:cNvPr id="5" name="This acknowledges that">
            <a:extLst>
              <a:ext uri="{FF2B5EF4-FFF2-40B4-BE49-F238E27FC236}">
                <a16:creationId xmlns:a16="http://schemas.microsoft.com/office/drawing/2014/main" id="{28A1C399-5989-0B6F-EF3D-E25EEBC51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475" y="2618554"/>
            <a:ext cx="8671560" cy="417743"/>
          </a:xfrm>
        </p:spPr>
        <p:txBody>
          <a:bodyPr/>
          <a:lstStyle/>
          <a:p>
            <a:r>
              <a:rPr lang="en-US" dirty="0"/>
              <a:t>THIS ACKNOWLEDGES THAT</a:t>
            </a:r>
          </a:p>
        </p:txBody>
      </p:sp>
      <p:sp>
        <p:nvSpPr>
          <p:cNvPr id="6" name="Christian Lacombe">
            <a:extLst>
              <a:ext uri="{FF2B5EF4-FFF2-40B4-BE49-F238E27FC236}">
                <a16:creationId xmlns:a16="http://schemas.microsoft.com/office/drawing/2014/main" id="{010B461A-575C-4452-6DC4-9EB582AB73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2991260"/>
            <a:ext cx="8674100" cy="1118504"/>
          </a:xfrm>
        </p:spPr>
        <p:txBody>
          <a:bodyPr>
            <a:normAutofit/>
          </a:bodyPr>
          <a:lstStyle/>
          <a:p>
            <a:r>
              <a:rPr lang="en-US" dirty="0"/>
              <a:t>Ahmad Uzair </a:t>
            </a:r>
          </a:p>
        </p:txBody>
      </p:sp>
      <p:sp>
        <p:nvSpPr>
          <p:cNvPr id="7" name="has been recognized for outstanding achievement">
            <a:extLst>
              <a:ext uri="{FF2B5EF4-FFF2-40B4-BE49-F238E27FC236}">
                <a16:creationId xmlns:a16="http://schemas.microsoft.com/office/drawing/2014/main" id="{B2661D6A-E61D-BCF9-B5AA-47ABCEC919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6077" y="4186867"/>
            <a:ext cx="8672830" cy="522968"/>
          </a:xfrm>
        </p:spPr>
        <p:txBody>
          <a:bodyPr>
            <a:noAutofit/>
          </a:bodyPr>
          <a:lstStyle/>
          <a:p>
            <a:r>
              <a:rPr lang="en-US" sz="1800" dirty="0"/>
              <a:t>for delivering an inspiring and insightful session at </a:t>
            </a:r>
            <a:r>
              <a:rPr lang="en-US" sz="1800" b="1" dirty="0"/>
              <a:t>Power Platform Classmates 2025 – Dubai</a:t>
            </a:r>
            <a:r>
              <a:rPr lang="en-US" sz="1800" dirty="0"/>
              <a:t>.</a:t>
            </a:r>
          </a:p>
        </p:txBody>
      </p:sp>
      <p:sp>
        <p:nvSpPr>
          <p:cNvPr id="8" name="Reed Flores, Teacher">
            <a:extLst>
              <a:ext uri="{FF2B5EF4-FFF2-40B4-BE49-F238E27FC236}">
                <a16:creationId xmlns:a16="http://schemas.microsoft.com/office/drawing/2014/main" id="{6DE0FCAC-BD5C-8A42-DCA9-625D4BDA0B9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4909" y="5414139"/>
            <a:ext cx="3607384" cy="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Organizers, </a:t>
            </a:r>
          </a:p>
          <a:p>
            <a:pPr marL="0" indent="0">
              <a:buNone/>
            </a:pPr>
            <a:r>
              <a:rPr lang="en-US" sz="1200" b="1" dirty="0"/>
              <a:t>Power Platform Classmates,</a:t>
            </a:r>
          </a:p>
          <a:p>
            <a:pPr marL="0" indent="0">
              <a:buNone/>
            </a:pPr>
            <a:r>
              <a:rPr lang="en-US" sz="1200" b="1" dirty="0"/>
              <a:t>BITS Pilani, Dubai</a:t>
            </a:r>
          </a:p>
        </p:txBody>
      </p:sp>
      <p:sp>
        <p:nvSpPr>
          <p:cNvPr id="2" name="AutoShape 2" descr="Badge Yellow Circle for Award Badge">
            <a:extLst>
              <a:ext uri="{FF2B5EF4-FFF2-40B4-BE49-F238E27FC236}">
                <a16:creationId xmlns:a16="http://schemas.microsoft.com/office/drawing/2014/main" id="{DD0DB0EC-9125-D028-68F4-4E34C7293E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ED145F-BDFB-80C6-94B2-83896480B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19" l="9903" r="91600">
                        <a14:foregroundMark x1="45712" y1="78318" x2="46508" y2="76449"/>
                        <a14:foregroundMark x1="66490" y1="77664" x2="55349" y2="74206"/>
                        <a14:foregroundMark x1="55349" y1="74206" x2="66225" y2="70467"/>
                        <a14:foregroundMark x1="66225" y1="70467" x2="63660" y2="79252"/>
                        <a14:foregroundMark x1="74978" y1="65327" x2="72679" y2="65327"/>
                        <a14:foregroundMark x1="74801" y1="57664" x2="74801" y2="57664"/>
                        <a14:foregroundMark x1="74978" y1="57477" x2="74978" y2="57477"/>
                        <a14:foregroundMark x1="74978" y1="57477" x2="74978" y2="57477"/>
                        <a14:foregroundMark x1="70380" y1="63458" x2="70380" y2="63458"/>
                        <a14:foregroundMark x1="70380" y1="63458" x2="70380" y2="63458"/>
                        <a14:foregroundMark x1="69761" y1="61028" x2="69761" y2="61028"/>
                        <a14:foregroundMark x1="69761" y1="61028" x2="69408" y2="60093"/>
                        <a14:foregroundMark x1="69408" y1="59720" x2="69408" y2="59720"/>
                        <a14:foregroundMark x1="69408" y1="59720" x2="69408" y2="59720"/>
                        <a14:foregroundMark x1="73386" y1="63458" x2="73386" y2="63458"/>
                        <a14:foregroundMark x1="79576" y1="62804" x2="79576" y2="62804"/>
                        <a14:foregroundMark x1="76835" y1="62243" x2="76304" y2="62150"/>
                        <a14:foregroundMark x1="73475" y1="60935" x2="72944" y2="60374"/>
                        <a14:foregroundMark x1="72944" y1="60374" x2="72944" y2="60374"/>
                        <a14:foregroundMark x1="75685" y1="58318" x2="75685" y2="58318"/>
                        <a14:foregroundMark x1="75685" y1="58318" x2="75685" y2="58318"/>
                        <a14:foregroundMark x1="70203" y1="57477" x2="70203" y2="57477"/>
                        <a14:foregroundMark x1="70203" y1="57477" x2="70203" y2="57477"/>
                        <a14:foregroundMark x1="66225" y1="63458" x2="66225" y2="63458"/>
                        <a14:foregroundMark x1="70027" y1="61869" x2="69673" y2="61682"/>
                        <a14:foregroundMark x1="66667" y1="62617" x2="66667" y2="62617"/>
                        <a14:foregroundMark x1="66667" y1="62617" x2="66667" y2="62617"/>
                        <a14:foregroundMark x1="68966" y1="63458" x2="68966" y2="63458"/>
                        <a14:foregroundMark x1="68966" y1="63458" x2="68966" y2="63458"/>
                        <a14:foregroundMark x1="70203" y1="67944" x2="70292" y2="67477"/>
                        <a14:foregroundMark x1="66225" y1="90467" x2="66225" y2="90467"/>
                        <a14:foregroundMark x1="66225" y1="90374" x2="66225" y2="90374"/>
                        <a14:foregroundMark x1="63926" y1="87009" x2="63926" y2="87009"/>
                        <a14:foregroundMark x1="63926" y1="87009" x2="63926" y2="87009"/>
                        <a14:foregroundMark x1="67109" y1="94019" x2="66313" y2="93832"/>
                        <a14:foregroundMark x1="65164" y1="93271" x2="65164" y2="93271"/>
                        <a14:foregroundMark x1="65517" y1="92523" x2="65959" y2="92523"/>
                        <a14:foregroundMark x1="68877" y1="91308" x2="68877" y2="91308"/>
                        <a14:foregroundMark x1="69231" y1="91308" x2="69231" y2="91308"/>
                        <a14:foregroundMark x1="65694" y1="88411" x2="65694" y2="88411"/>
                        <a14:foregroundMark x1="65340" y1="86729" x2="65340" y2="86729"/>
                        <a14:foregroundMark x1="65340" y1="86729" x2="65340" y2="86729"/>
                        <a14:foregroundMark x1="65340" y1="86729" x2="65340" y2="86729"/>
                        <a14:foregroundMark x1="63749" y1="85607" x2="63749" y2="85607"/>
                        <a14:foregroundMark x1="63749" y1="85607" x2="63749" y2="85607"/>
                        <a14:foregroundMark x1="64368" y1="88411" x2="64368" y2="88411"/>
                        <a14:foregroundMark x1="69408" y1="87664" x2="69408" y2="87664"/>
                        <a14:foregroundMark x1="69408" y1="87664" x2="69408" y2="87664"/>
                        <a14:foregroundMark x1="67109" y1="87196" x2="67109" y2="87196"/>
                        <a14:foregroundMark x1="64810" y1="88411" x2="64810" y2="88411"/>
                        <a14:foregroundMark x1="64810" y1="88411" x2="64810" y2="88411"/>
                        <a14:foregroundMark x1="65429" y1="88598" x2="65429" y2="88598"/>
                        <a14:foregroundMark x1="65517" y1="88598" x2="65517" y2="87477"/>
                        <a14:foregroundMark x1="65340" y1="85981" x2="65340" y2="85981"/>
                        <a14:foregroundMark x1="65340" y1="85981" x2="65340" y2="85981"/>
                        <a14:foregroundMark x1="63926" y1="88972" x2="63926" y2="88972"/>
                        <a14:foregroundMark x1="63660" y1="88224" x2="63660" y2="88224"/>
                        <a14:foregroundMark x1="38108" y1="77103" x2="38108" y2="77103"/>
                        <a14:foregroundMark x1="38108" y1="77103" x2="38108" y2="77103"/>
                        <a14:foregroundMark x1="47126" y1="81028" x2="36782" y2="74766"/>
                        <a14:foregroundMark x1="36782" y1="74766" x2="46684" y2="79813"/>
                        <a14:foregroundMark x1="46684" y1="79813" x2="46508" y2="81308"/>
                        <a14:foregroundMark x1="75508" y1="48037" x2="68789" y2="38411"/>
                        <a14:foregroundMark x1="68789" y1="38411" x2="75685" y2="47570"/>
                        <a14:foregroundMark x1="75685" y1="47570" x2="75950" y2="48972"/>
                        <a14:foregroundMark x1="61362" y1="34393" x2="61362" y2="34393"/>
                        <a14:foregroundMark x1="62069" y1="34579" x2="61450" y2="34860"/>
                        <a14:foregroundMark x1="43855" y1="34953" x2="43236" y2="35234"/>
                        <a14:foregroundMark x1="62865" y1="37103" x2="58090" y2="26355"/>
                        <a14:foregroundMark x1="58090" y1="26355" x2="64456" y2="35607"/>
                        <a14:foregroundMark x1="64456" y1="35607" x2="63042" y2="37009"/>
                        <a14:foregroundMark x1="52608" y1="30467" x2="52608" y2="30467"/>
                        <a14:foregroundMark x1="52608" y1="30467" x2="52608" y2="30467"/>
                        <a14:foregroundMark x1="43059" y1="36542" x2="40760" y2="37757"/>
                        <a14:foregroundMark x1="37224" y1="32804" x2="37224" y2="32804"/>
                        <a14:foregroundMark x1="37224" y1="32804" x2="37224" y2="32804"/>
                        <a14:foregroundMark x1="37224" y1="32804" x2="37224" y2="32804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39611" y1="37383" x2="47038" y2="26168"/>
                        <a14:foregroundMark x1="47038" y1="26168" x2="43324" y2="36168"/>
                        <a14:foregroundMark x1="41645" y1="26168" x2="41645" y2="26168"/>
                        <a14:foregroundMark x1="41645" y1="26168" x2="41645" y2="26168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37577" y1="25234" x2="37577" y2="25234"/>
                        <a14:foregroundMark x1="37577" y1="25234" x2="37577" y2="25234"/>
                        <a14:foregroundMark x1="37577" y1="25234" x2="37577" y2="25234"/>
                        <a14:foregroundMark x1="34925" y1="47944" x2="31477" y2="48879"/>
                        <a14:foregroundMark x1="32361" y1="68598" x2="31742" y2="55514"/>
                        <a14:foregroundMark x1="31742" y1="55514" x2="32449" y2="67477"/>
                        <a14:foregroundMark x1="32449" y1="67477" x2="31565" y2="68505"/>
                        <a14:foregroundMark x1="26172" y1="57757" x2="26172" y2="57757"/>
                        <a14:foregroundMark x1="26172" y1="57757" x2="26172" y2="57757"/>
                        <a14:foregroundMark x1="26172" y1="57757" x2="26172" y2="57757"/>
                        <a14:foregroundMark x1="48187" y1="25607" x2="48187" y2="25607"/>
                        <a14:foregroundMark x1="48187" y1="25607" x2="48187" y2="25607"/>
                        <a14:foregroundMark x1="48187" y1="25607" x2="48187" y2="25607"/>
                        <a14:foregroundMark x1="35013" y1="30187" x2="35013" y2="30187"/>
                        <a14:foregroundMark x1="35013" y1="30187" x2="35013" y2="30187"/>
                        <a14:foregroundMark x1="35102" y1="30374" x2="35102" y2="30374"/>
                        <a14:foregroundMark x1="35102" y1="30374" x2="35544" y2="30374"/>
                        <a14:foregroundMark x1="37843" y1="22804" x2="37843" y2="22804"/>
                        <a14:foregroundMark x1="37843" y1="22804" x2="37843" y2="22804"/>
                        <a14:foregroundMark x1="37666" y1="17757" x2="37666" y2="17757"/>
                        <a14:foregroundMark x1="37666" y1="17757" x2="37666" y2="17757"/>
                        <a14:foregroundMark x1="37666" y1="17757" x2="37666" y2="17757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68081" y1="12804" x2="68081" y2="12804"/>
                        <a14:foregroundMark x1="68081" y1="12804" x2="68081" y2="12804"/>
                        <a14:foregroundMark x1="65959" y1="12897" x2="65959" y2="12897"/>
                        <a14:foregroundMark x1="65959" y1="12897" x2="65959" y2="12897"/>
                        <a14:foregroundMark x1="65959" y1="12897" x2="65959" y2="12897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832" y1="65888" x2="89832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302" y2="68037"/>
                        <a14:foregroundMark x1="91600" y1="67757" x2="91600" y2="67757"/>
                        <a14:foregroundMark x1="91600" y1="67757" x2="91600" y2="67757"/>
                        <a14:foregroundMark x1="91600" y1="67757" x2="91600" y2="67757"/>
                        <a14:foregroundMark x1="80725" y1="62523" x2="80725" y2="62523"/>
                        <a14:foregroundMark x1="80725" y1="62523" x2="80725" y2="62523"/>
                        <a14:foregroundMark x1="80725" y1="62523" x2="80725" y2="62523"/>
                        <a14:foregroundMark x1="32361" y1="47477" x2="29885" y2="48037"/>
                        <a14:foregroundMark x1="10610" y1="36542" x2="10610" y2="36542"/>
                        <a14:foregroundMark x1="10610" y1="36542" x2="10610" y2="36542"/>
                        <a14:foregroundMark x1="10610" y1="36542" x2="10610" y2="36542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48453" y1="30748" x2="48453" y2="30748"/>
                        <a14:foregroundMark x1="48453" y1="30748" x2="48453" y2="30748"/>
                        <a14:foregroundMark x1="48453" y1="30748" x2="48453" y2="30748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8391" y1="38879" x2="18391" y2="38879"/>
                        <a14:foregroundMark x1="18391" y1="38879" x2="18391" y2="39252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64279" y1="26542" x2="64279" y2="26542"/>
                        <a14:foregroundMark x1="64279" y1="26542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5774" y1="70187" x2="75774" y2="70187"/>
                        <a14:foregroundMark x1="75774" y1="70187" x2="75774" y2="70187"/>
                        <a14:foregroundMark x1="75774" y1="70187" x2="75774" y2="70187"/>
                        <a14:foregroundMark x1="75774" y1="69159" x2="75774" y2="69159"/>
                        <a14:foregroundMark x1="75774" y1="69159" x2="75774" y2="69159"/>
                        <a14:foregroundMark x1="75774" y1="69159" x2="75774" y2="69159"/>
                        <a14:foregroundMark x1="78691" y1="65234" x2="78691" y2="65234"/>
                        <a14:foregroundMark x1="78691" y1="65234" x2="78691" y2="65234"/>
                        <a14:foregroundMark x1="44828" y1="23084" x2="44828" y2="23084"/>
                        <a14:foregroundMark x1="44828" y1="23084" x2="44828" y2="23084"/>
                        <a14:foregroundMark x1="44828" y1="23084" x2="44828" y2="23084"/>
                        <a14:foregroundMark x1="38373" y1="23645" x2="38373" y2="23645"/>
                        <a14:foregroundMark x1="38373" y1="23645" x2="38373" y2="23645"/>
                        <a14:foregroundMark x1="39788" y1="25327" x2="39788" y2="25327"/>
                        <a14:foregroundMark x1="39965" y1="23178" x2="39965" y2="23178"/>
                        <a14:foregroundMark x1="39965" y1="23178" x2="39965" y2="23178"/>
                        <a14:foregroundMark x1="36074" y1="18505" x2="36074" y2="18505"/>
                        <a14:foregroundMark x1="36074" y1="18505" x2="36074" y2="18505"/>
                        <a14:foregroundMark x1="36074" y1="18505" x2="36074" y2="18505"/>
                        <a14:foregroundMark x1="33864" y1="14299" x2="33864" y2="14299"/>
                        <a14:foregroundMark x1="33864" y1="14299" x2="33864" y2="14299"/>
                        <a14:foregroundMark x1="39611" y1="19720" x2="37577" y2="19252"/>
                        <a14:foregroundMark x1="64545" y1="19813" x2="63484" y2="20654"/>
                        <a14:foregroundMark x1="85853" y1="36449" x2="84881" y2="36729"/>
                        <a14:foregroundMark x1="85853" y1="41402" x2="86384" y2="40935"/>
                        <a14:foregroundMark x1="85500" y1="68598" x2="86030" y2="69439"/>
                        <a14:foregroundMark x1="85234" y1="70374" x2="84615" y2="69159"/>
                        <a14:foregroundMark x1="37312" y1="90374" x2="37224" y2="90093"/>
                        <a14:foregroundMark x1="37931" y1="88972" x2="38373" y2="88879"/>
                        <a14:foregroundMark x1="36074" y1="91028" x2="35897" y2="90374"/>
                        <a14:foregroundMark x1="33864" y1="88411" x2="36163" y2="89159"/>
                        <a14:foregroundMark x1="16092" y1="70467" x2="15208" y2="67664"/>
                        <a14:foregroundMark x1="15119" y1="70748" x2="15119" y2="70748"/>
                        <a14:foregroundMark x1="15119" y1="70748" x2="15119" y2="70748"/>
                        <a14:foregroundMark x1="17241" y1="70093" x2="17772" y2="68879"/>
                        <a14:foregroundMark x1="23607" y1="65607" x2="23607" y2="65607"/>
                        <a14:foregroundMark x1="23607" y1="65607" x2="23607" y2="65607"/>
                        <a14:foregroundMark x1="22370" y1="64673" x2="22370" y2="64673"/>
                        <a14:foregroundMark x1="18921" y1="40187" x2="15296" y2="38785"/>
                        <a14:backgroundMark x1="23165" y1="27570" x2="9991" y2="20280"/>
                        <a14:backgroundMark x1="9991" y1="20280" x2="5128" y2="7757"/>
                        <a14:backgroundMark x1="5128" y1="7757" x2="24050" y2="14860"/>
                        <a14:backgroundMark x1="24050" y1="14860" x2="22989" y2="27290"/>
                        <a14:backgroundMark x1="22989" y1="27290" x2="22193" y2="26822"/>
                        <a14:backgroundMark x1="27233" y1="28037" x2="10698" y2="21869"/>
                        <a14:backgroundMark x1="10698" y1="21869" x2="5217" y2="9346"/>
                        <a14:backgroundMark x1="5217" y1="9346" x2="17683" y2="9533"/>
                        <a14:backgroundMark x1="17683" y1="9533" x2="24492" y2="24766"/>
                        <a14:backgroundMark x1="24492" y1="24766" x2="26967" y2="275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3153" y="612169"/>
            <a:ext cx="1136107" cy="1074833"/>
          </a:xfrm>
          <a:prstGeom prst="rect">
            <a:avLst/>
          </a:prstGeom>
        </p:spPr>
      </p:pic>
      <p:sp>
        <p:nvSpPr>
          <p:cNvPr id="22" name="Reed Flores, Teacher">
            <a:extLst>
              <a:ext uri="{FF2B5EF4-FFF2-40B4-BE49-F238E27FC236}">
                <a16:creationId xmlns:a16="http://schemas.microsoft.com/office/drawing/2014/main" id="{166EBEE4-E3B9-A670-2F11-72AE2CCF16C4}"/>
              </a:ext>
            </a:extLst>
          </p:cNvPr>
          <p:cNvSpPr txBox="1">
            <a:spLocks/>
          </p:cNvSpPr>
          <p:nvPr/>
        </p:nvSpPr>
        <p:spPr>
          <a:xfrm>
            <a:off x="6106326" y="5680739"/>
            <a:ext cx="1798017" cy="25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/>
              <a:t>04 Oct,  2025</a:t>
            </a:r>
          </a:p>
        </p:txBody>
      </p:sp>
      <p:pic>
        <p:nvPicPr>
          <p:cNvPr id="28" name="Picture 6" descr="Image result for Power apps logo">
            <a:extLst>
              <a:ext uri="{FF2B5EF4-FFF2-40B4-BE49-F238E27FC236}">
                <a16:creationId xmlns:a16="http://schemas.microsoft.com/office/drawing/2014/main" id="{7AFA5EFB-2EDE-6F69-B8B5-6AB1B18D9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388" y="6599707"/>
            <a:ext cx="742563" cy="5398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Image result for Power BI logo">
            <a:extLst>
              <a:ext uri="{FF2B5EF4-FFF2-40B4-BE49-F238E27FC236}">
                <a16:creationId xmlns:a16="http://schemas.microsoft.com/office/drawing/2014/main" id="{E449DB26-70FC-1EC2-A7B8-6C4689CDC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5171" r="846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4" r="6644"/>
          <a:stretch/>
        </p:blipFill>
        <p:spPr bwMode="auto">
          <a:xfrm>
            <a:off x="3173919" y="6578581"/>
            <a:ext cx="477718" cy="5068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Image result for power virtual agents logo">
            <a:extLst>
              <a:ext uri="{FF2B5EF4-FFF2-40B4-BE49-F238E27FC236}">
                <a16:creationId xmlns:a16="http://schemas.microsoft.com/office/drawing/2014/main" id="{C382B3F5-1853-B0A4-2B0D-E94CD1430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39" y="6533737"/>
            <a:ext cx="626538" cy="707972"/>
          </a:xfrm>
          <a:prstGeom prst="ellipse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Power BI Desktop Connecting to Dataverse - Hat Full of Data">
            <a:extLst>
              <a:ext uri="{FF2B5EF4-FFF2-40B4-BE49-F238E27FC236}">
                <a16:creationId xmlns:a16="http://schemas.microsoft.com/office/drawing/2014/main" id="{17EF759F-B29A-15A4-2C36-D91322F14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778" b="89778" l="2667" r="95556">
                        <a14:foregroundMark x1="90222" y1="48444" x2="90222" y2="48444"/>
                        <a14:foregroundMark x1="95556" y1="48444" x2="95556" y2="48444"/>
                        <a14:foregroundMark x1="6222" y1="59556" x2="6222" y2="59556"/>
                        <a14:foregroundMark x1="2667" y1="54667" x2="2667" y2="5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77" y="6583652"/>
            <a:ext cx="568427" cy="51267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F823322-2894-DD62-3A4D-D9347E221F7C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9069" r="21546" b="8853"/>
          <a:stretch/>
        </p:blipFill>
        <p:spPr>
          <a:xfrm>
            <a:off x="2763760" y="6702921"/>
            <a:ext cx="412375" cy="34906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88F1183C-C2E2-7A97-98B6-7A50BE5B12C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825" y="6644992"/>
            <a:ext cx="459445" cy="459445"/>
          </a:xfrm>
          <a:prstGeom prst="rect">
            <a:avLst/>
          </a:prstGeom>
        </p:spPr>
      </p:pic>
      <p:pic>
        <p:nvPicPr>
          <p:cNvPr id="35" name="Picture 16" descr="Icon for Dynamics 365 Customer Service">
            <a:extLst>
              <a:ext uri="{FF2B5EF4-FFF2-40B4-BE49-F238E27FC236}">
                <a16:creationId xmlns:a16="http://schemas.microsoft.com/office/drawing/2014/main" id="{D99972E3-F5E1-960C-DB76-233DD82B8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158" y="6589020"/>
            <a:ext cx="699650" cy="54449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8" descr="Icon for Dynamics 365 Field Service">
            <a:extLst>
              <a:ext uri="{FF2B5EF4-FFF2-40B4-BE49-F238E27FC236}">
                <a16:creationId xmlns:a16="http://schemas.microsoft.com/office/drawing/2014/main" id="{C9821C81-7281-8D9B-7B6F-5FB1580A3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999" y="6515329"/>
            <a:ext cx="658788" cy="6703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Icon for Dynamics 365 Sales">
            <a:extLst>
              <a:ext uri="{FF2B5EF4-FFF2-40B4-BE49-F238E27FC236}">
                <a16:creationId xmlns:a16="http://schemas.microsoft.com/office/drawing/2014/main" id="{176DB56C-0100-9732-FEEE-6F8D70DF7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01" y="6509382"/>
            <a:ext cx="673425" cy="65084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4" descr="Icon for Dynamics 365 Marketing">
            <a:extLst>
              <a:ext uri="{FF2B5EF4-FFF2-40B4-BE49-F238E27FC236}">
                <a16:creationId xmlns:a16="http://schemas.microsoft.com/office/drawing/2014/main" id="{47902C9A-C4E9-4237-495A-33D484704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07" y="6512471"/>
            <a:ext cx="658788" cy="66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Row(Record) Level Privileges in Dynamics 365/Power Platform – Ashish  Vishwakarma">
            <a:extLst>
              <a:ext uri="{FF2B5EF4-FFF2-40B4-BE49-F238E27FC236}">
                <a16:creationId xmlns:a16="http://schemas.microsoft.com/office/drawing/2014/main" id="{8B67D8DE-9032-7D18-1519-BD0B9EC15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199" y="6549547"/>
            <a:ext cx="792966" cy="61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Power Pages - The ultimate user guide">
            <a:extLst>
              <a:ext uri="{FF2B5EF4-FFF2-40B4-BE49-F238E27FC236}">
                <a16:creationId xmlns:a16="http://schemas.microsoft.com/office/drawing/2014/main" id="{71E9F5AA-B30D-4793-B33A-8766DCF0C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889" b="98667" l="889" r="96000">
                        <a14:foregroundMark x1="11111" y1="35111" x2="13333" y2="44000"/>
                        <a14:foregroundMark x1="8889" y1="32889" x2="14222" y2="45778"/>
                        <a14:foregroundMark x1="38667" y1="12000" x2="59556" y2="10222"/>
                        <a14:foregroundMark x1="43556" y1="8889" x2="56889" y2="6222"/>
                        <a14:foregroundMark x1="51111" y1="889" x2="54667" y2="4000"/>
                        <a14:foregroundMark x1="6667" y1="33778" x2="8000" y2="43556"/>
                        <a14:foregroundMark x1="4000" y1="36444" x2="5333" y2="41778"/>
                        <a14:foregroundMark x1="1333" y1="38222" x2="1333" y2="43111"/>
                        <a14:foregroundMark x1="88000" y1="56889" x2="82667" y2="69778"/>
                        <a14:foregroundMark x1="41778" y1="85333" x2="40444" y2="88444"/>
                        <a14:foregroundMark x1="40444" y1="88889" x2="40444" y2="88889"/>
                        <a14:foregroundMark x1="49778" y1="94667" x2="49778" y2="94667"/>
                        <a14:foregroundMark x1="49778" y1="94667" x2="49778" y2="94667"/>
                        <a14:foregroundMark x1="96444" y1="65778" x2="96444" y2="65778"/>
                        <a14:foregroundMark x1="96444" y1="65778" x2="96444" y2="65778"/>
                        <a14:foregroundMark x1="51111" y1="98667" x2="51111" y2="98667"/>
                        <a14:foregroundMark x1="51111" y1="98667" x2="51111" y2="9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0" y="6597253"/>
            <a:ext cx="469374" cy="4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 descr="Azure has a new logo, but where do you download it? Here!">
            <a:extLst>
              <a:ext uri="{FF2B5EF4-FFF2-40B4-BE49-F238E27FC236}">
                <a16:creationId xmlns:a16="http://schemas.microsoft.com/office/drawing/2014/main" id="{3C5013DF-B0F5-B0B9-C5DA-0DF319B7E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8889" b="89778" l="4889" r="92000">
                        <a14:foregroundMark x1="92444" y1="88889" x2="92444" y2="88889"/>
                        <a14:foregroundMark x1="8889" y1="88000" x2="8889" y2="88000"/>
                        <a14:foregroundMark x1="5333" y1="88889" x2="5333" y2="88889"/>
                        <a14:foregroundMark x1="40000" y1="8889" x2="40000" y2="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427" y="6644641"/>
            <a:ext cx="523814" cy="40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304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0.83933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6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ertificate of Scholarship">
      <a:dk1>
        <a:srgbClr val="000000"/>
      </a:dk1>
      <a:lt1>
        <a:srgbClr val="FFFFFF"/>
      </a:lt1>
      <a:dk2>
        <a:srgbClr val="696464"/>
      </a:dk2>
      <a:lt2>
        <a:srgbClr val="C3B8B4"/>
      </a:lt2>
      <a:accent1>
        <a:srgbClr val="E55956"/>
      </a:accent1>
      <a:accent2>
        <a:srgbClr val="B14647"/>
      </a:accent2>
      <a:accent3>
        <a:srgbClr val="3E3432"/>
      </a:accent3>
      <a:accent4>
        <a:srgbClr val="FB625F"/>
      </a:accent4>
      <a:accent5>
        <a:srgbClr val="168485"/>
      </a:accent5>
      <a:accent6>
        <a:srgbClr val="006588"/>
      </a:accent6>
      <a:hlink>
        <a:srgbClr val="CC9900"/>
      </a:hlink>
      <a:folHlink>
        <a:srgbClr val="96A9A9"/>
      </a:folHlink>
    </a:clrScheme>
    <a:fontScheme name="Custom 6">
      <a:majorFont>
        <a:latin typeface="Gill Sans MT"/>
        <a:ea typeface=""/>
        <a:cs typeface=""/>
      </a:majorFont>
      <a:minorFont>
        <a:latin typeface="Georgi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rtificate of Scholarship_TM02895265_WAC_AP_SL_v3" id="{54493849-C588-4B9D-938D-6267E2ACE5CA}" vid="{4AA5DDD9-B27D-4224-BC66-65B2F71520C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7a416adda3cf0f491a4f548a2367a54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ef98d826045059a9b3c156985e150db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E7E590-2B19-426F-B030-B3BE65C3E73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296F365-A8FB-4771-B5A5-049B27B980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48541D-4E0C-47F7-8FE9-80A7836D9D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Certificate of scholarship</Template>
  <TotalTime>285</TotalTime>
  <Words>222</Words>
  <Application>Microsoft Office PowerPoint</Application>
  <PresentationFormat>Custom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Georgia</vt:lpstr>
      <vt:lpstr>Gill Sans MT</vt:lpstr>
      <vt:lpstr>Office Theme</vt:lpstr>
      <vt:lpstr>CERTIFICATE OF APPRECIATION</vt:lpstr>
      <vt:lpstr>CERTIFICATE OF APPRECIATION</vt:lpstr>
      <vt:lpstr>CERTIFICATE OF APPRECIATION</vt:lpstr>
      <vt:lpstr>CERTIFICATE OF APPRECIATION</vt:lpstr>
      <vt:lpstr>CERTIFICATE OF APPRECIATION</vt:lpstr>
      <vt:lpstr>CERTIFICATE OF APPRECIATION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OF APPRECIATION</dc:title>
  <dc:creator>Goloknath Mishra</dc:creator>
  <cp:lastModifiedBy>Pavan Mani Deep Yaragani</cp:lastModifiedBy>
  <cp:revision>11</cp:revision>
  <dcterms:created xsi:type="dcterms:W3CDTF">2022-07-17T12:14:29Z</dcterms:created>
  <dcterms:modified xsi:type="dcterms:W3CDTF">2025-10-03T19:01:04Z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